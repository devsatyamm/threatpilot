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B44646-CD9B-3412-E908-2C806649CA14}" v="5" dt="2026-03-11T21:28:44.977"/>
    <p1510:client id="{6FF38A0C-3F1C-4052-AFE3-7940604B4261}" v="46" dt="2026-03-11T22:01:29.6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0" y="-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m Mishra [COMPUTER SCIENCE &amp; ENGINEERING - 2025]" userId="S::satyam.2502052326@muj.manipal.edu::24692504-2bf0-4954-8aae-f08452b65c47" providerId="AD" clId="Web-{29B44646-CD9B-3412-E908-2C806649CA14}"/>
    <pc:docChg chg="modSld">
      <pc:chgData name="Satyam Mishra [COMPUTER SCIENCE &amp; ENGINEERING - 2025]" userId="S::satyam.2502052326@muj.manipal.edu::24692504-2bf0-4954-8aae-f08452b65c47" providerId="AD" clId="Web-{29B44646-CD9B-3412-E908-2C806649CA14}" dt="2026-03-11T21:28:05.023" v="1" actId="20577"/>
      <pc:docMkLst>
        <pc:docMk/>
      </pc:docMkLst>
      <pc:sldChg chg="modSp">
        <pc:chgData name="Satyam Mishra [COMPUTER SCIENCE &amp; ENGINEERING - 2025]" userId="S::satyam.2502052326@muj.manipal.edu::24692504-2bf0-4954-8aae-f08452b65c47" providerId="AD" clId="Web-{29B44646-CD9B-3412-E908-2C806649CA14}" dt="2026-03-11T21:28:05.023" v="1" actId="20577"/>
        <pc:sldMkLst>
          <pc:docMk/>
          <pc:sldMk cId="0" sldId="256"/>
        </pc:sldMkLst>
        <pc:spChg chg="mod">
          <ac:chgData name="Satyam Mishra [COMPUTER SCIENCE &amp; ENGINEERING - 2025]" userId="S::satyam.2502052326@muj.manipal.edu::24692504-2bf0-4954-8aae-f08452b65c47" providerId="AD" clId="Web-{29B44646-CD9B-3412-E908-2C806649CA14}" dt="2026-03-11T21:28:05.023" v="1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  <pc:docChgLst>
    <pc:chgData name="Satyam Mishra [COMPUTER SCIENCE &amp; ENGINEERING - 2025]" userId="24692504-2bf0-4954-8aae-f08452b65c47" providerId="ADAL" clId="{121FA30C-AC7E-4C42-97DA-151898331486}"/>
    <pc:docChg chg="undo redo custSel modSld">
      <pc:chgData name="Satyam Mishra [COMPUTER SCIENCE &amp; ENGINEERING - 2025]" userId="24692504-2bf0-4954-8aae-f08452b65c47" providerId="ADAL" clId="{121FA30C-AC7E-4C42-97DA-151898331486}" dt="2026-03-11T22:01:29.611" v="61" actId="14100"/>
      <pc:docMkLst>
        <pc:docMk/>
      </pc:docMkLst>
      <pc:sldChg chg="addSp modSp mod">
        <pc:chgData name="Satyam Mishra [COMPUTER SCIENCE &amp; ENGINEERING - 2025]" userId="24692504-2bf0-4954-8aae-f08452b65c47" providerId="ADAL" clId="{121FA30C-AC7E-4C42-97DA-151898331486}" dt="2026-03-11T22:01:29.611" v="61" actId="14100"/>
        <pc:sldMkLst>
          <pc:docMk/>
          <pc:sldMk cId="0" sldId="256"/>
        </pc:sldMkLst>
        <pc:spChg chg="mod">
          <ac:chgData name="Satyam Mishra [COMPUTER SCIENCE &amp; ENGINEERING - 2025]" userId="24692504-2bf0-4954-8aae-f08452b65c47" providerId="ADAL" clId="{121FA30C-AC7E-4C42-97DA-151898331486}" dt="2026-03-11T21:19:35.487" v="2" actId="255"/>
          <ac:spMkLst>
            <pc:docMk/>
            <pc:sldMk cId="0" sldId="256"/>
            <ac:spMk id="7" creationId="{00000000-0000-0000-0000-000000000000}"/>
          </ac:spMkLst>
        </pc:spChg>
        <pc:spChg chg="mod">
          <ac:chgData name="Satyam Mishra [COMPUTER SCIENCE &amp; ENGINEERING - 2025]" userId="24692504-2bf0-4954-8aae-f08452b65c47" providerId="ADAL" clId="{121FA30C-AC7E-4C42-97DA-151898331486}" dt="2026-03-11T21:19:23.178" v="1" actId="255"/>
          <ac:spMkLst>
            <pc:docMk/>
            <pc:sldMk cId="0" sldId="256"/>
            <ac:spMk id="8" creationId="{00000000-0000-0000-0000-000000000000}"/>
          </ac:spMkLst>
        </pc:spChg>
        <pc:spChg chg="mod">
          <ac:chgData name="Satyam Mishra [COMPUTER SCIENCE &amp; ENGINEERING - 2025]" userId="24692504-2bf0-4954-8aae-f08452b65c47" providerId="ADAL" clId="{121FA30C-AC7E-4C42-97DA-151898331486}" dt="2026-03-11T21:49:51.316" v="23" actId="20577"/>
          <ac:spMkLst>
            <pc:docMk/>
            <pc:sldMk cId="0" sldId="256"/>
            <ac:spMk id="10" creationId="{00000000-0000-0000-0000-000000000000}"/>
          </ac:spMkLst>
        </pc:spChg>
        <pc:picChg chg="add mod">
          <ac:chgData name="Satyam Mishra [COMPUTER SCIENCE &amp; ENGINEERING - 2025]" userId="24692504-2bf0-4954-8aae-f08452b65c47" providerId="ADAL" clId="{121FA30C-AC7E-4C42-97DA-151898331486}" dt="2026-03-11T22:01:29.611" v="61" actId="14100"/>
          <ac:picMkLst>
            <pc:docMk/>
            <pc:sldMk cId="0" sldId="256"/>
            <ac:picMk id="15" creationId="{C2EAC3AB-D771-D88A-634E-38E1591FCF47}"/>
          </ac:picMkLst>
        </pc:picChg>
      </pc:sldChg>
      <pc:sldChg chg="modSp mod">
        <pc:chgData name="Satyam Mishra [COMPUTER SCIENCE &amp; ENGINEERING - 2025]" userId="24692504-2bf0-4954-8aae-f08452b65c47" providerId="ADAL" clId="{121FA30C-AC7E-4C42-97DA-151898331486}" dt="2026-03-11T21:20:25.802" v="5" actId="20577"/>
        <pc:sldMkLst>
          <pc:docMk/>
          <pc:sldMk cId="0" sldId="257"/>
        </pc:sldMkLst>
        <pc:spChg chg="mod">
          <ac:chgData name="Satyam Mishra [COMPUTER SCIENCE &amp; ENGINEERING - 2025]" userId="24692504-2bf0-4954-8aae-f08452b65c47" providerId="ADAL" clId="{121FA30C-AC7E-4C42-97DA-151898331486}" dt="2026-03-11T21:20:20.782" v="4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Satyam Mishra [COMPUTER SCIENCE &amp; ENGINEERING - 2025]" userId="24692504-2bf0-4954-8aae-f08452b65c47" providerId="ADAL" clId="{121FA30C-AC7E-4C42-97DA-151898331486}" dt="2026-03-11T21:20:25.802" v="5" actId="20577"/>
          <ac:spMkLst>
            <pc:docMk/>
            <pc:sldMk cId="0" sldId="257"/>
            <ac:spMk id="23" creationId="{00000000-0000-0000-0000-000000000000}"/>
          </ac:spMkLst>
        </pc:spChg>
      </pc:sldChg>
      <pc:sldChg chg="modSp mod">
        <pc:chgData name="Satyam Mishra [COMPUTER SCIENCE &amp; ENGINEERING - 2025]" userId="24692504-2bf0-4954-8aae-f08452b65c47" providerId="ADAL" clId="{121FA30C-AC7E-4C42-97DA-151898331486}" dt="2026-03-11T21:22:20.494" v="11" actId="20577"/>
        <pc:sldMkLst>
          <pc:docMk/>
          <pc:sldMk cId="0" sldId="259"/>
        </pc:sldMkLst>
        <pc:spChg chg="mod">
          <ac:chgData name="Satyam Mishra [COMPUTER SCIENCE &amp; ENGINEERING - 2025]" userId="24692504-2bf0-4954-8aae-f08452b65c47" providerId="ADAL" clId="{121FA30C-AC7E-4C42-97DA-151898331486}" dt="2026-03-11T21:21:35.961" v="6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atyam Mishra [COMPUTER SCIENCE &amp; ENGINEERING - 2025]" userId="24692504-2bf0-4954-8aae-f08452b65c47" providerId="ADAL" clId="{121FA30C-AC7E-4C42-97DA-151898331486}" dt="2026-03-11T21:21:44.200" v="7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Satyam Mishra [COMPUTER SCIENCE &amp; ENGINEERING - 2025]" userId="24692504-2bf0-4954-8aae-f08452b65c47" providerId="ADAL" clId="{121FA30C-AC7E-4C42-97DA-151898331486}" dt="2026-03-11T21:22:01.263" v="8" actId="20577"/>
          <ac:spMkLst>
            <pc:docMk/>
            <pc:sldMk cId="0" sldId="259"/>
            <ac:spMk id="26" creationId="{00000000-0000-0000-0000-000000000000}"/>
          </ac:spMkLst>
        </pc:spChg>
        <pc:spChg chg="mod">
          <ac:chgData name="Satyam Mishra [COMPUTER SCIENCE &amp; ENGINEERING - 2025]" userId="24692504-2bf0-4954-8aae-f08452b65c47" providerId="ADAL" clId="{121FA30C-AC7E-4C42-97DA-151898331486}" dt="2026-03-11T21:22:09.261" v="9" actId="20577"/>
          <ac:spMkLst>
            <pc:docMk/>
            <pc:sldMk cId="0" sldId="259"/>
            <ac:spMk id="37" creationId="{00000000-0000-0000-0000-000000000000}"/>
          </ac:spMkLst>
        </pc:spChg>
        <pc:spChg chg="mod">
          <ac:chgData name="Satyam Mishra [COMPUTER SCIENCE &amp; ENGINEERING - 2025]" userId="24692504-2bf0-4954-8aae-f08452b65c47" providerId="ADAL" clId="{121FA30C-AC7E-4C42-97DA-151898331486}" dt="2026-03-11T21:22:12.542" v="10" actId="20577"/>
          <ac:spMkLst>
            <pc:docMk/>
            <pc:sldMk cId="0" sldId="259"/>
            <ac:spMk id="40" creationId="{00000000-0000-0000-0000-000000000000}"/>
          </ac:spMkLst>
        </pc:spChg>
        <pc:spChg chg="mod">
          <ac:chgData name="Satyam Mishra [COMPUTER SCIENCE &amp; ENGINEERING - 2025]" userId="24692504-2bf0-4954-8aae-f08452b65c47" providerId="ADAL" clId="{121FA30C-AC7E-4C42-97DA-151898331486}" dt="2026-03-11T21:22:20.494" v="11" actId="20577"/>
          <ac:spMkLst>
            <pc:docMk/>
            <pc:sldMk cId="0" sldId="259"/>
            <ac:spMk id="43" creationId="{00000000-0000-0000-0000-000000000000}"/>
          </ac:spMkLst>
        </pc:spChg>
      </pc:sldChg>
      <pc:sldChg chg="addSp modSp mod">
        <pc:chgData name="Satyam Mishra [COMPUTER SCIENCE &amp; ENGINEERING - 2025]" userId="24692504-2bf0-4954-8aae-f08452b65c47" providerId="ADAL" clId="{121FA30C-AC7E-4C42-97DA-151898331486}" dt="2026-03-11T21:53:35.294" v="33" actId="2085"/>
        <pc:sldMkLst>
          <pc:docMk/>
          <pc:sldMk cId="0" sldId="260"/>
        </pc:sldMkLst>
        <pc:picChg chg="add mod">
          <ac:chgData name="Satyam Mishra [COMPUTER SCIENCE &amp; ENGINEERING - 2025]" userId="24692504-2bf0-4954-8aae-f08452b65c47" providerId="ADAL" clId="{121FA30C-AC7E-4C42-97DA-151898331486}" dt="2026-03-11T21:53:35.294" v="33" actId="2085"/>
          <ac:picMkLst>
            <pc:docMk/>
            <pc:sldMk cId="0" sldId="260"/>
            <ac:picMk id="36" creationId="{86AEC117-56C6-97CB-6B6D-86B6896E12D4}"/>
          </ac:picMkLst>
        </pc:picChg>
      </pc:sldChg>
      <pc:sldChg chg="modSp mod">
        <pc:chgData name="Satyam Mishra [COMPUTER SCIENCE &amp; ENGINEERING - 2025]" userId="24692504-2bf0-4954-8aae-f08452b65c47" providerId="ADAL" clId="{121FA30C-AC7E-4C42-97DA-151898331486}" dt="2026-03-11T21:25:03.367" v="15" actId="20577"/>
        <pc:sldMkLst>
          <pc:docMk/>
          <pc:sldMk cId="0" sldId="264"/>
        </pc:sldMkLst>
        <pc:spChg chg="mod">
          <ac:chgData name="Satyam Mishra [COMPUTER SCIENCE &amp; ENGINEERING - 2025]" userId="24692504-2bf0-4954-8aae-f08452b65c47" providerId="ADAL" clId="{121FA30C-AC7E-4C42-97DA-151898331486}" dt="2026-03-11T21:24:42.083" v="12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Satyam Mishra [COMPUTER SCIENCE &amp; ENGINEERING - 2025]" userId="24692504-2bf0-4954-8aae-f08452b65c47" providerId="ADAL" clId="{121FA30C-AC7E-4C42-97DA-151898331486}" dt="2026-03-11T21:24:55.106" v="13" actId="20577"/>
          <ac:spMkLst>
            <pc:docMk/>
            <pc:sldMk cId="0" sldId="264"/>
            <ac:spMk id="18" creationId="{00000000-0000-0000-0000-000000000000}"/>
          </ac:spMkLst>
        </pc:spChg>
        <pc:spChg chg="mod">
          <ac:chgData name="Satyam Mishra [COMPUTER SCIENCE &amp; ENGINEERING - 2025]" userId="24692504-2bf0-4954-8aae-f08452b65c47" providerId="ADAL" clId="{121FA30C-AC7E-4C42-97DA-151898331486}" dt="2026-03-11T21:25:03.367" v="15" actId="20577"/>
          <ac:spMkLst>
            <pc:docMk/>
            <pc:sldMk cId="0" sldId="264"/>
            <ac:spMk id="36" creationId="{00000000-0000-0000-0000-000000000000}"/>
          </ac:spMkLst>
        </pc:spChg>
        <pc:spChg chg="mod">
          <ac:chgData name="Satyam Mishra [COMPUTER SCIENCE &amp; ENGINEERING - 2025]" userId="24692504-2bf0-4954-8aae-f08452b65c47" providerId="ADAL" clId="{121FA30C-AC7E-4C42-97DA-151898331486}" dt="2026-03-11T21:24:58.075" v="14" actId="20577"/>
          <ac:spMkLst>
            <pc:docMk/>
            <pc:sldMk cId="0" sldId="264"/>
            <ac:spMk id="42" creationId="{00000000-0000-0000-0000-000000000000}"/>
          </ac:spMkLst>
        </pc:spChg>
      </pc:sldChg>
      <pc:sldChg chg="addSp delSp modSp mod">
        <pc:chgData name="Satyam Mishra [COMPUTER SCIENCE &amp; ENGINEERING - 2025]" userId="24692504-2bf0-4954-8aae-f08452b65c47" providerId="ADAL" clId="{121FA30C-AC7E-4C42-97DA-151898331486}" dt="2026-03-11T21:58:58.932" v="53" actId="478"/>
        <pc:sldMkLst>
          <pc:docMk/>
          <pc:sldMk cId="0" sldId="265"/>
        </pc:sldMkLst>
        <pc:spChg chg="mod ord">
          <ac:chgData name="Satyam Mishra [COMPUTER SCIENCE &amp; ENGINEERING - 2025]" userId="24692504-2bf0-4954-8aae-f08452b65c47" providerId="ADAL" clId="{121FA30C-AC7E-4C42-97DA-151898331486}" dt="2026-03-11T21:57:53.450" v="48" actId="1076"/>
          <ac:spMkLst>
            <pc:docMk/>
            <pc:sldMk cId="0" sldId="265"/>
            <ac:spMk id="23" creationId="{00000000-0000-0000-0000-000000000000}"/>
          </ac:spMkLst>
        </pc:spChg>
        <pc:spChg chg="ord">
          <ac:chgData name="Satyam Mishra [COMPUTER SCIENCE &amp; ENGINEERING - 2025]" userId="24692504-2bf0-4954-8aae-f08452b65c47" providerId="ADAL" clId="{121FA30C-AC7E-4C42-97DA-151898331486}" dt="2026-03-11T21:57:31.106" v="44" actId="167"/>
          <ac:spMkLst>
            <pc:docMk/>
            <pc:sldMk cId="0" sldId="265"/>
            <ac:spMk id="35" creationId="{00000000-0000-0000-0000-000000000000}"/>
          </ac:spMkLst>
        </pc:spChg>
        <pc:picChg chg="add del mod ord">
          <ac:chgData name="Satyam Mishra [COMPUTER SCIENCE &amp; ENGINEERING - 2025]" userId="24692504-2bf0-4954-8aae-f08452b65c47" providerId="ADAL" clId="{121FA30C-AC7E-4C42-97DA-151898331486}" dt="2026-03-11T21:58:58.932" v="53" actId="478"/>
          <ac:picMkLst>
            <pc:docMk/>
            <pc:sldMk cId="0" sldId="265"/>
            <ac:picMk id="37" creationId="{B5631DD5-FD79-D5C4-A17B-DAA2904B7E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B76AC-9F4F-4865-994B-AA24A343B913}" type="datetimeFigureOut">
              <a:rPr lang="en-IN" smtClean="0"/>
              <a:t>13-03-2026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FE03AC-08EC-407B-86B2-E7362B8C10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3796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E03AC-08EC-407B-86B2-E7362B8C1047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8506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2926080"/>
            <a:ext cx="5943600" cy="5029200"/>
          </a:xfrm>
          <a:prstGeom prst="ellipse">
            <a:avLst/>
          </a:prstGeom>
          <a:solidFill>
            <a:srgbClr val="1E14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BBB3E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4224" y="0"/>
            <a:ext cx="12188952" cy="6858000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7772400" y="2926080"/>
            <a:ext cx="5943600" cy="5029200"/>
          </a:xfrm>
          <a:prstGeom prst="ellipse">
            <a:avLst/>
          </a:prstGeom>
          <a:solidFill>
            <a:srgbClr val="1E14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Oval 5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BBB3E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5E4CE6"/>
                </a:solidFill>
                <a:latin typeface="Outfit"/>
              </a:rPr>
              <a:t>HACK &amp; BREAK 2026  ·  IIT BOMBAY  ·  AGENTIC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9144000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9600" b="1" dirty="0">
                <a:solidFill>
                  <a:srgbClr val="231971"/>
                </a:solidFill>
                <a:latin typeface="ADLaM Display"/>
                <a:ea typeface="ADLaM Display"/>
                <a:cs typeface="ADLaM Display"/>
              </a:rPr>
              <a:t>Threat Pilot</a:t>
            </a:r>
            <a:endParaRPr sz="9600" b="1" i="0" dirty="0">
              <a:solidFill>
                <a:srgbClr val="23197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2578608"/>
            <a:ext cx="5029200" cy="54864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42544" y="2788920"/>
            <a:ext cx="70774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2A2742"/>
                </a:solidFill>
                <a:latin typeface="Arial Black" panose="020B0A04020102020204" pitchFamily="34" charset="0"/>
              </a:rPr>
              <a:t>Agentic AI Red-Teaming: Autonomous Hacker</a:t>
            </a:r>
            <a:r>
              <a:rPr lang="en-IN" sz="2400" b="0" i="0" dirty="0">
                <a:solidFill>
                  <a:srgbClr val="2A2742"/>
                </a:solidFill>
                <a:latin typeface="Arial Black" panose="020B0A04020102020204" pitchFamily="34" charset="0"/>
              </a:rPr>
              <a:t> </a:t>
            </a:r>
            <a:r>
              <a:rPr sz="2400" b="0" i="0" dirty="0">
                <a:solidFill>
                  <a:srgbClr val="2A2742"/>
                </a:solidFill>
                <a:latin typeface="Arial Black" panose="020B0A04020102020204" pitchFamily="34" charset="0"/>
              </a:rPr>
              <a:t>Simulation for Developers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2A2742"/>
                </a:solidFill>
                <a:latin typeface="Arimo"/>
              </a:rPr>
              <a:t>An intelligent agent that autonomously crawls, reasons, attacks and reports —
testing your app the way a real hacker would, before they 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54864" cy="1188720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77239" y="5029200"/>
            <a:ext cx="64043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A2742"/>
                </a:solidFill>
                <a:latin typeface="Arimo"/>
              </a:rPr>
              <a:t>Team</a:t>
            </a:r>
            <a:r>
              <a:rPr lang="en-US" b="0" dirty="0">
                <a:solidFill>
                  <a:srgbClr val="2A2742"/>
                </a:solidFill>
                <a:latin typeface="Arimo"/>
              </a:rPr>
              <a:t> Name</a:t>
            </a:r>
            <a:r>
              <a:rPr b="0" dirty="0">
                <a:solidFill>
                  <a:srgbClr val="2A2742"/>
                </a:solidFill>
                <a:latin typeface="Arimo"/>
              </a:rPr>
              <a:t>  :  </a:t>
            </a:r>
            <a:r>
              <a:rPr lang="en-IN" b="0" dirty="0">
                <a:solidFill>
                  <a:srgbClr val="2A2742"/>
                </a:solidFill>
                <a:latin typeface="Arimo"/>
              </a:rPr>
              <a:t>GreyMatter</a:t>
            </a:r>
            <a:endParaRPr b="0" dirty="0">
              <a:solidFill>
                <a:srgbClr val="2A2742"/>
              </a:solidFill>
              <a:latin typeface="Arimo"/>
            </a:endParaRPr>
          </a:p>
          <a:p>
            <a:pPr algn="l"/>
            <a:r>
              <a:rPr b="0" dirty="0">
                <a:solidFill>
                  <a:srgbClr val="2A2742"/>
                </a:solidFill>
                <a:latin typeface="Arimo"/>
              </a:rPr>
              <a:t>Member</a:t>
            </a:r>
            <a:r>
              <a:rPr lang="en-US" b="0" dirty="0">
                <a:solidFill>
                  <a:srgbClr val="2A2742"/>
                </a:solidFill>
                <a:latin typeface="Arimo"/>
              </a:rPr>
              <a:t>s</a:t>
            </a:r>
            <a:r>
              <a:rPr b="0" dirty="0">
                <a:solidFill>
                  <a:srgbClr val="2A2742"/>
                </a:solidFill>
                <a:latin typeface="Arimo"/>
              </a:rPr>
              <a:t>  :  Satyam Mishra</a:t>
            </a:r>
            <a:r>
              <a:rPr lang="en-US" b="0" dirty="0">
                <a:solidFill>
                  <a:srgbClr val="2A2742"/>
                </a:solidFill>
                <a:latin typeface="Arimo"/>
              </a:rPr>
              <a:t> , Rudraksh Purohit, Devansh Agarwal</a:t>
            </a:r>
            <a:endParaRPr b="0" dirty="0">
              <a:solidFill>
                <a:srgbClr val="2A2742"/>
              </a:solidFill>
              <a:latin typeface="Arimo"/>
            </a:endParaRPr>
          </a:p>
          <a:p>
            <a:pPr algn="l"/>
            <a:r>
              <a:rPr b="0" dirty="0">
                <a:solidFill>
                  <a:srgbClr val="2A2742"/>
                </a:solidFill>
                <a:latin typeface="Arimo"/>
              </a:rPr>
              <a:t>Theme : Agentic AI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EAC3AB-D771-D88A-634E-38E1591FC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522" y="0"/>
            <a:ext cx="4806628" cy="6995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2926080"/>
            <a:ext cx="5943600" cy="5029200"/>
          </a:xfrm>
          <a:prstGeom prst="ellipse">
            <a:avLst/>
          </a:prstGeom>
          <a:solidFill>
            <a:srgbClr val="1E14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BBB3E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231971"/>
                </a:solidFill>
                <a:latin typeface="Outfit"/>
              </a:rPr>
              <a:t>The Security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65992" cy="36576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5303520" cy="157276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64008" cy="1572768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43000" y="1560478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 dirty="0">
                <a:solidFill>
                  <a:srgbClr val="5E4CE6"/>
                </a:solidFill>
                <a:latin typeface="Outfit"/>
              </a:rP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7482" y="1759095"/>
            <a:ext cx="29260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A2742"/>
                </a:solidFill>
                <a:latin typeface="Aptos Slab Black" panose="020B0004020202020204" pitchFamily="34" charset="0"/>
              </a:rPr>
              <a:t>of startups skip</a:t>
            </a:r>
          </a:p>
          <a:p>
            <a:pPr algn="l"/>
            <a:r>
              <a:rPr sz="2000" b="1" dirty="0">
                <a:solidFill>
                  <a:srgbClr val="2A2742"/>
                </a:solidFill>
                <a:latin typeface="Aptos Slab Black" panose="020B0004020202020204" pitchFamily="34" charset="0"/>
              </a:rPr>
              <a:t>penetration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971800"/>
            <a:ext cx="5303520" cy="157276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11480" y="2971800"/>
            <a:ext cx="64008" cy="157276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08660" y="3278124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 dirty="0">
                <a:solidFill>
                  <a:srgbClr val="7C3AFF"/>
                </a:solidFill>
                <a:latin typeface="Outfit"/>
              </a:rPr>
              <a:t>$4.45M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490" y="3291840"/>
            <a:ext cx="23956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A2742"/>
                </a:solidFill>
                <a:latin typeface="Aptos Slab Black" panose="020B0004020202020204" pitchFamily="34" charset="0"/>
              </a:rPr>
              <a:t>average data breach</a:t>
            </a:r>
          </a:p>
          <a:p>
            <a:pPr algn="l"/>
            <a:r>
              <a:rPr sz="2000" b="1" dirty="0">
                <a:solidFill>
                  <a:srgbClr val="2A2742"/>
                </a:solidFill>
                <a:latin typeface="Aptos Slab Black" panose="020B0004020202020204" pitchFamily="34" charset="0"/>
              </a:rPr>
              <a:t>cost  (IBM 2023)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709160"/>
            <a:ext cx="5303520" cy="157276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411480" y="4709160"/>
            <a:ext cx="64008" cy="1572768"/>
          </a:xfrm>
          <a:prstGeom prst="rect">
            <a:avLst/>
          </a:prstGeom>
          <a:solidFill>
            <a:srgbClr val="0F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081246" y="5007986"/>
            <a:ext cx="21031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 dirty="0">
                <a:solidFill>
                  <a:srgbClr val="0FB88A"/>
                </a:solidFill>
                <a:latin typeface="Outfit"/>
              </a:rPr>
              <a:t>74%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7482" y="5168947"/>
            <a:ext cx="28577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A2742"/>
                </a:solidFill>
                <a:latin typeface="Aptos Slab Black" panose="020B0004020202020204" pitchFamily="34" charset="0"/>
              </a:rPr>
              <a:t>of breaches exploit</a:t>
            </a:r>
          </a:p>
          <a:p>
            <a:pPr algn="l"/>
            <a:r>
              <a:rPr sz="2000" b="1" dirty="0">
                <a:solidFill>
                  <a:srgbClr val="2A2742"/>
                </a:solidFill>
                <a:latin typeface="Aptos Slab Black" panose="020B0004020202020204" pitchFamily="34" charset="0"/>
              </a:rPr>
              <a:t>known vulnerabilities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234440"/>
            <a:ext cx="5806440" cy="521208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263640" y="14173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231971"/>
                </a:solidFill>
                <a:latin typeface="Outfit"/>
              </a:rPr>
              <a:t>Why Applications Ship Vulnerable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084831"/>
            <a:ext cx="5303520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b="0" dirty="0">
                <a:solidFill>
                  <a:srgbClr val="2A2742"/>
                </a:solidFill>
                <a:latin typeface="Arimo"/>
              </a:rPr>
              <a:t>Many startups and early-stage developers deploy</a:t>
            </a:r>
          </a:p>
          <a:p>
            <a:pPr algn="l">
              <a:spcAft>
                <a:spcPts val="200"/>
              </a:spcAft>
            </a:pPr>
            <a:r>
              <a:rPr b="0" dirty="0">
                <a:solidFill>
                  <a:srgbClr val="2A2742"/>
                </a:solidFill>
                <a:latin typeface="Arimo"/>
              </a:rPr>
              <a:t>applications without proper security testing due</a:t>
            </a:r>
          </a:p>
          <a:p>
            <a:pPr algn="l">
              <a:spcAft>
                <a:spcPts val="200"/>
              </a:spcAft>
            </a:pPr>
            <a:r>
              <a:rPr b="0" dirty="0">
                <a:solidFill>
                  <a:srgbClr val="2A2742"/>
                </a:solidFill>
                <a:latin typeface="Arimo"/>
              </a:rPr>
              <a:t>to cost and expertise barriers.</a:t>
            </a:r>
          </a:p>
          <a:p>
            <a:pPr algn="l">
              <a:spcAft>
                <a:spcPts val="200"/>
              </a:spcAft>
            </a:pPr>
            <a:endParaRPr b="0" dirty="0">
              <a:solidFill>
                <a:srgbClr val="2A2742"/>
              </a:solidFill>
              <a:latin typeface="Arimo"/>
            </a:endParaRPr>
          </a:p>
          <a:p>
            <a:pPr algn="l">
              <a:spcAft>
                <a:spcPts val="200"/>
              </a:spcAft>
            </a:pPr>
            <a:r>
              <a:rPr b="0" dirty="0">
                <a:solidFill>
                  <a:srgbClr val="2A2742"/>
                </a:solidFill>
                <a:latin typeface="Arimo"/>
              </a:rPr>
              <a:t>Professional penetration testing requires</a:t>
            </a:r>
          </a:p>
          <a:p>
            <a:pPr algn="l">
              <a:spcAft>
                <a:spcPts val="200"/>
              </a:spcAft>
            </a:pPr>
            <a:r>
              <a:rPr b="0" dirty="0">
                <a:solidFill>
                  <a:srgbClr val="2A2742"/>
                </a:solidFill>
                <a:latin typeface="Arimo"/>
              </a:rPr>
              <a:t>specialized skills and can cost </a:t>
            </a:r>
            <a:r>
              <a:rPr b="1" u="sng" dirty="0">
                <a:solidFill>
                  <a:srgbClr val="2A2742"/>
                </a:solidFill>
                <a:latin typeface="Arimo"/>
              </a:rPr>
              <a:t>$5,000–$50,000</a:t>
            </a:r>
          </a:p>
          <a:p>
            <a:pPr algn="l">
              <a:spcAft>
                <a:spcPts val="200"/>
              </a:spcAft>
            </a:pPr>
            <a:r>
              <a:rPr b="0" dirty="0">
                <a:solidFill>
                  <a:srgbClr val="2A2742"/>
                </a:solidFill>
                <a:latin typeface="Arimo"/>
              </a:rPr>
              <a:t>per engagement </a:t>
            </a:r>
            <a:r>
              <a:rPr lang="en-IN" b="0" dirty="0">
                <a:solidFill>
                  <a:srgbClr val="2A2742"/>
                </a:solidFill>
                <a:latin typeface="Arimo"/>
              </a:rPr>
              <a:t>,</a:t>
            </a:r>
            <a:r>
              <a:rPr b="0" dirty="0">
                <a:solidFill>
                  <a:srgbClr val="2A2742"/>
                </a:solidFill>
                <a:latin typeface="Arimo"/>
              </a:rPr>
              <a:t> far beyond budget for small</a:t>
            </a:r>
          </a:p>
          <a:p>
            <a:pPr algn="l">
              <a:spcAft>
                <a:spcPts val="200"/>
              </a:spcAft>
            </a:pPr>
            <a:r>
              <a:rPr b="0" dirty="0">
                <a:solidFill>
                  <a:srgbClr val="2A2742"/>
                </a:solidFill>
                <a:latin typeface="Arimo"/>
              </a:rPr>
              <a:t>teams and student projects.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4412" y="4754192"/>
            <a:ext cx="5577840" cy="111556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094412" y="4838846"/>
            <a:ext cx="1433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5E4CE6"/>
                </a:solidFill>
                <a:latin typeface="Outfit"/>
              </a:rPr>
              <a:t>Result: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230859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A2742"/>
                </a:solidFill>
                <a:latin typeface="Arimo"/>
              </a:rPr>
              <a:t>Applications ship with SQL injection, broken auth,</a:t>
            </a:r>
          </a:p>
          <a:p>
            <a:pPr algn="l"/>
            <a:r>
              <a:rPr sz="1600" b="0" dirty="0">
                <a:solidFill>
                  <a:srgbClr val="2A2742"/>
                </a:solidFill>
                <a:latin typeface="Arimo"/>
              </a:rPr>
              <a:t>API misuse &amp; weak input validation  undetected</a:t>
            </a:r>
            <a:r>
              <a:rPr sz="1300" b="0" dirty="0">
                <a:solidFill>
                  <a:srgbClr val="2A2742"/>
                </a:solidFill>
                <a:latin typeface="Arimo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2926080"/>
            <a:ext cx="5943600" cy="5029200"/>
          </a:xfrm>
          <a:prstGeom prst="ellipse">
            <a:avLst/>
          </a:prstGeom>
          <a:solidFill>
            <a:srgbClr val="1E14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BBB3E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231971"/>
                </a:solidFill>
                <a:latin typeface="Outfit"/>
              </a:rPr>
              <a:t>Limitations of Traditional Security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65992" cy="36576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4007" y="1222111"/>
            <a:ext cx="3657600" cy="420624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657600" cy="73152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94944" y="1435608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u="sng" dirty="0">
                <a:solidFill>
                  <a:srgbClr val="231971"/>
                </a:solidFill>
                <a:latin typeface="Outfit"/>
              </a:rPr>
              <a:t>Static Rule-Based
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9" y="2521969"/>
            <a:ext cx="32004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dirty="0">
                <a:solidFill>
                  <a:srgbClr val="2A2742"/>
                </a:solidFill>
              </a:rPr>
              <a:t>Traditional scanners rely on pre-defined vulnerability signatures  the</a:t>
            </a:r>
            <a:r>
              <a:rPr lang="en-IN" sz="2200" b="0" dirty="0">
                <a:solidFill>
                  <a:srgbClr val="2A2742"/>
                </a:solidFill>
              </a:rPr>
              <a:t>at</a:t>
            </a:r>
            <a:r>
              <a:rPr sz="2200" b="0" dirty="0">
                <a:solidFill>
                  <a:srgbClr val="2A2742"/>
                </a:solidFill>
              </a:rPr>
              <a:t> can't adapt to novel attack vectors or application-specific behaviors.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234440"/>
            <a:ext cx="3657600" cy="420624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315968" y="1234440"/>
            <a:ext cx="3657600" cy="731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544568" y="1417320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u="sng" dirty="0">
                <a:solidFill>
                  <a:srgbClr val="231971"/>
                </a:solidFill>
                <a:latin typeface="Outfit"/>
              </a:rPr>
              <a:t>No Dynamic
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599111"/>
            <a:ext cx="3200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dirty="0">
                <a:solidFill>
                  <a:srgbClr val="2A2742"/>
                </a:solidFill>
              </a:rPr>
              <a:t>Tools like ZAP and Burp Suite cannot simulate real attacker behavior or dynamically adjust their approach based on live application responses.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5" y="1234440"/>
            <a:ext cx="3657600" cy="420624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220455" y="1234440"/>
            <a:ext cx="3657600" cy="73152"/>
          </a:xfrm>
          <a:prstGeom prst="rect">
            <a:avLst/>
          </a:prstGeom>
          <a:solidFill>
            <a:srgbClr val="0F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449055" y="1417320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u="sng" dirty="0">
                <a:solidFill>
                  <a:srgbClr val="231971"/>
                </a:solidFill>
                <a:latin typeface="Outfit"/>
              </a:rPr>
              <a:t>Accessibility
Barriers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289" y="2478808"/>
            <a:ext cx="3657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dirty="0">
                <a:solidFill>
                  <a:srgbClr val="2A2742"/>
                </a:solidFill>
              </a:rPr>
              <a:t>Advanced security testing remains out of reach for student developers, small teams, and bootstrapped startups due to cost and complexity.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596128"/>
            <a:ext cx="11365992" cy="86868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527901" y="5715000"/>
            <a:ext cx="1713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5E4CE6"/>
                </a:solidFill>
                <a:latin typeface="Outfit"/>
              </a:rPr>
              <a:t>The Gap: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8465" y="5773013"/>
            <a:ext cx="96729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2A2742"/>
                </a:solidFill>
                <a:latin typeface="Arimo"/>
              </a:rPr>
              <a:t>No affordable, AI-powered, autonomous security testing exists for developers.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2926080"/>
            <a:ext cx="5943600" cy="5029200"/>
          </a:xfrm>
          <a:prstGeom prst="ellipse">
            <a:avLst/>
          </a:prstGeom>
          <a:solidFill>
            <a:srgbClr val="1E14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BBB3E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231971"/>
                </a:solidFill>
                <a:latin typeface="Outfit"/>
              </a:rPr>
              <a:t>Why This Is Agentic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65992" cy="36576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5486400" cy="525780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31971"/>
                </a:solidFill>
                <a:latin typeface="Outfit"/>
              </a:rPr>
              <a:t>The Autonomous Agent Loop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039112"/>
            <a:ext cx="384048" cy="384048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66928" y="204825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0116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5E4CE6"/>
                </a:solidFill>
                <a:latin typeface="Outfit"/>
              </a:rPr>
              <a:t>1. 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2011680"/>
            <a:ext cx="3063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Crawler</a:t>
            </a:r>
            <a:r>
              <a:rPr sz="1600" b="0" i="0" dirty="0">
                <a:solidFill>
                  <a:srgbClr val="2A2742"/>
                </a:solidFill>
                <a:latin typeface="Arimo"/>
              </a:rPr>
              <a:t> maps app —</a:t>
            </a:r>
            <a:r>
              <a:rPr lang="en-IN" sz="1600" b="0" i="0" dirty="0">
                <a:solidFill>
                  <a:srgbClr val="2A2742"/>
                </a:solidFill>
                <a:latin typeface="Arimo"/>
              </a:rPr>
              <a:t>&gt;</a:t>
            </a:r>
            <a:r>
              <a:rPr sz="1600" b="0" i="0" dirty="0">
                <a:solidFill>
                  <a:srgbClr val="2A2742"/>
                </a:solidFill>
                <a:latin typeface="Arimo"/>
              </a:rPr>
              <a:t> pages, APIs, forms, </a:t>
            </a:r>
            <a:r>
              <a:rPr sz="1600" b="0" i="0" dirty="0">
                <a:solidFill>
                  <a:srgbClr val="2A2742"/>
                </a:solidFill>
              </a:rPr>
              <a:t>hidden</a:t>
            </a:r>
            <a:r>
              <a:rPr sz="1600" b="0" i="0" dirty="0">
                <a:solidFill>
                  <a:srgbClr val="2A2742"/>
                </a:solidFill>
                <a:latin typeface="Arimo"/>
              </a:rPr>
              <a:t> endpoints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54864" cy="347472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566928" y="2862072"/>
            <a:ext cx="384048" cy="384048"/>
          </a:xfrm>
          <a:prstGeom prst="ellipse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66928" y="287121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8346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7C3AFF"/>
                </a:solidFill>
                <a:latin typeface="Outfit"/>
              </a:rPr>
              <a:t>2. THINK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2834640"/>
            <a:ext cx="3063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LLM</a:t>
            </a:r>
            <a:r>
              <a:rPr sz="1600" b="0" i="0" dirty="0">
                <a:solidFill>
                  <a:srgbClr val="2A2742"/>
                </a:solidFill>
                <a:latin typeface="Arimo"/>
              </a:rPr>
              <a:t> reasons on structure, selects attack vector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91840"/>
            <a:ext cx="54864" cy="34747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Oval 17"/>
          <p:cNvSpPr/>
          <p:nvPr/>
        </p:nvSpPr>
        <p:spPr>
          <a:xfrm>
            <a:off x="566928" y="3685032"/>
            <a:ext cx="384048" cy="384048"/>
          </a:xfrm>
          <a:prstGeom prst="ellipse">
            <a:avLst/>
          </a:prstGeom>
          <a:solidFill>
            <a:srgbClr val="0F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566928" y="369417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657600"/>
            <a:ext cx="146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B88A"/>
                </a:solidFill>
                <a:latin typeface="Outfit"/>
              </a:rPr>
              <a:t>3. 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3657600"/>
            <a:ext cx="3063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Executes</a:t>
            </a:r>
            <a:r>
              <a:rPr sz="1600" b="0" i="0" dirty="0">
                <a:solidFill>
                  <a:srgbClr val="2A2742"/>
                </a:solidFill>
                <a:latin typeface="Arimo"/>
              </a:rPr>
              <a:t> probe —</a:t>
            </a:r>
            <a:r>
              <a:rPr lang="en-IN" sz="1600" b="0" i="0" dirty="0">
                <a:solidFill>
                  <a:srgbClr val="2A2742"/>
                </a:solidFill>
                <a:latin typeface="Arimo"/>
              </a:rPr>
              <a:t>&gt;</a:t>
            </a:r>
            <a:r>
              <a:rPr sz="1600" b="0" i="0" dirty="0">
                <a:solidFill>
                  <a:srgbClr val="2A2742"/>
                </a:solidFill>
                <a:latin typeface="Arimo"/>
              </a:rPr>
              <a:t> SQLi, auth bypass, </a:t>
            </a:r>
            <a:r>
              <a:rPr sz="1600" b="0" i="0" dirty="0">
                <a:solidFill>
                  <a:srgbClr val="2A2742"/>
                </a:solidFill>
              </a:rPr>
              <a:t>API</a:t>
            </a:r>
            <a:r>
              <a:rPr sz="1600" b="0" i="0" dirty="0">
                <a:solidFill>
                  <a:srgbClr val="2A2742"/>
                </a:solidFill>
                <a:latin typeface="Arimo"/>
              </a:rPr>
              <a:t> abuse, brute force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14800"/>
            <a:ext cx="54864" cy="347472"/>
          </a:xfrm>
          <a:prstGeom prst="rect">
            <a:avLst/>
          </a:prstGeom>
          <a:solidFill>
            <a:srgbClr val="0F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Oval 22"/>
          <p:cNvSpPr/>
          <p:nvPr/>
        </p:nvSpPr>
        <p:spPr>
          <a:xfrm>
            <a:off x="566928" y="4507992"/>
            <a:ext cx="384048" cy="384048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566928" y="451713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4805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5E4CE6"/>
                </a:solidFill>
                <a:latin typeface="Outfit"/>
              </a:rPr>
              <a:t>4. ANALYZE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33472" y="4480560"/>
            <a:ext cx="3063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Inspects</a:t>
            </a:r>
            <a:r>
              <a:rPr sz="1600" b="0" i="0" dirty="0">
                <a:solidFill>
                  <a:srgbClr val="2A2742"/>
                </a:solidFill>
                <a:latin typeface="Arimo"/>
              </a:rPr>
              <a:t> response —</a:t>
            </a:r>
            <a:r>
              <a:rPr lang="en-IN" sz="1600" b="0" i="0" dirty="0">
                <a:solidFill>
                  <a:srgbClr val="2A2742"/>
                </a:solidFill>
                <a:latin typeface="Arimo"/>
              </a:rPr>
              <a:t>&gt;</a:t>
            </a:r>
            <a:r>
              <a:rPr sz="1600" b="0" i="0" dirty="0">
                <a:solidFill>
                  <a:srgbClr val="2A2742"/>
                </a:solidFill>
                <a:latin typeface="Arimo"/>
              </a:rPr>
              <a:t> status </a:t>
            </a:r>
            <a:r>
              <a:rPr sz="1600" b="0" i="0" dirty="0">
                <a:solidFill>
                  <a:srgbClr val="2A2742"/>
                </a:solidFill>
              </a:rPr>
              <a:t>codes</a:t>
            </a:r>
            <a:r>
              <a:rPr sz="1600" b="0" i="0" dirty="0">
                <a:solidFill>
                  <a:srgbClr val="2A2742"/>
                </a:solidFill>
                <a:latin typeface="Arimo"/>
              </a:rPr>
              <a:t>, HTML diffs, timing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937760"/>
            <a:ext cx="54864" cy="347472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Oval 27"/>
          <p:cNvSpPr/>
          <p:nvPr/>
        </p:nvSpPr>
        <p:spPr>
          <a:xfrm>
            <a:off x="566928" y="5330952"/>
            <a:ext cx="384048" cy="384048"/>
          </a:xfrm>
          <a:prstGeom prst="ellipse">
            <a:avLst/>
          </a:prstGeom>
          <a:solidFill>
            <a:srgbClr val="231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566928" y="534009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Outfit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53035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31971"/>
                </a:solidFill>
                <a:latin typeface="Outfit"/>
              </a:rPr>
              <a:t>5. REPEAT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33472" y="5303520"/>
            <a:ext cx="3063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Adapts</a:t>
            </a:r>
            <a:r>
              <a:rPr sz="1600" b="0" i="0" dirty="0">
                <a:solidFill>
                  <a:srgbClr val="2A2742"/>
                </a:solidFill>
                <a:latin typeface="Arimo"/>
              </a:rPr>
              <a:t> strategy based on finding  loops until coverage complete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1176771"/>
            <a:ext cx="5577840" cy="525780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446520" y="137160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31971"/>
                </a:solidFill>
                <a:latin typeface="Outfit"/>
              </a:rPr>
              <a:t>Tech Stack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1920240"/>
            <a:ext cx="5029200" cy="36576"/>
          </a:xfrm>
          <a:prstGeom prst="rect">
            <a:avLst/>
          </a:prstGeom>
          <a:solidFill>
            <a:srgbClr val="D4C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Oval 34"/>
          <p:cNvSpPr/>
          <p:nvPr/>
        </p:nvSpPr>
        <p:spPr>
          <a:xfrm>
            <a:off x="6446520" y="2176272"/>
            <a:ext cx="128016" cy="128016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6656832" y="2084831"/>
            <a:ext cx="1920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5E4CE6"/>
                </a:solidFill>
                <a:latin typeface="Outfit"/>
              </a:rPr>
              <a:t>Agent Orchestration: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2084831"/>
            <a:ext cx="2926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Lang</a:t>
            </a:r>
            <a:r>
              <a:rPr lang="en-US" sz="1600" b="0" i="0" dirty="0">
                <a:solidFill>
                  <a:srgbClr val="2A2742"/>
                </a:solidFill>
              </a:rPr>
              <a:t> </a:t>
            </a:r>
            <a:r>
              <a:rPr sz="1600" b="0" i="0" dirty="0">
                <a:solidFill>
                  <a:srgbClr val="2A2742"/>
                </a:solidFill>
              </a:rPr>
              <a:t>Graph —</a:t>
            </a:r>
            <a:r>
              <a:rPr lang="en-IN" sz="1600" b="0" i="0" dirty="0">
                <a:solidFill>
                  <a:srgbClr val="2A2742"/>
                </a:solidFill>
              </a:rPr>
              <a:t>&gt;</a:t>
            </a:r>
            <a:r>
              <a:rPr sz="1600" b="0" i="0" dirty="0">
                <a:solidFill>
                  <a:srgbClr val="2A2742"/>
                </a:solidFill>
              </a:rPr>
              <a:t> manages the observe-think-act loop</a:t>
            </a:r>
          </a:p>
        </p:txBody>
      </p:sp>
      <p:sp>
        <p:nvSpPr>
          <p:cNvPr id="38" name="Oval 37"/>
          <p:cNvSpPr/>
          <p:nvPr/>
        </p:nvSpPr>
        <p:spPr>
          <a:xfrm>
            <a:off x="6446520" y="2907792"/>
            <a:ext cx="128016" cy="128016"/>
          </a:xfrm>
          <a:prstGeom prst="ellipse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6656832" y="28163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7C3AFF"/>
                </a:solidFill>
                <a:latin typeface="Outfit"/>
              </a:rPr>
              <a:t>Browser Control: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2816352"/>
            <a:ext cx="2926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Playwright —</a:t>
            </a:r>
            <a:r>
              <a:rPr lang="en-IN" sz="1600" b="0" i="0" dirty="0">
                <a:solidFill>
                  <a:srgbClr val="2A2742"/>
                </a:solidFill>
              </a:rPr>
              <a:t>&gt;</a:t>
            </a:r>
            <a:r>
              <a:rPr sz="1600" b="0" i="0" dirty="0">
                <a:solidFill>
                  <a:srgbClr val="2A2742"/>
                </a:solidFill>
              </a:rPr>
              <a:t> intelligent navigation &amp; form interaction</a:t>
            </a:r>
          </a:p>
        </p:txBody>
      </p:sp>
      <p:sp>
        <p:nvSpPr>
          <p:cNvPr id="41" name="Oval 40"/>
          <p:cNvSpPr/>
          <p:nvPr/>
        </p:nvSpPr>
        <p:spPr>
          <a:xfrm>
            <a:off x="6446520" y="3639312"/>
            <a:ext cx="128016" cy="128016"/>
          </a:xfrm>
          <a:prstGeom prst="ellipse">
            <a:avLst/>
          </a:prstGeom>
          <a:solidFill>
            <a:srgbClr val="0F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6656832" y="3547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B88A"/>
                </a:solidFill>
                <a:latin typeface="Outfit"/>
              </a:rPr>
              <a:t>AI Reasoning: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3547872"/>
            <a:ext cx="2926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Claude / GPT-4o —</a:t>
            </a:r>
            <a:r>
              <a:rPr lang="en-IN" sz="1600" b="0" i="0" dirty="0">
                <a:solidFill>
                  <a:srgbClr val="2A2742"/>
                </a:solidFill>
              </a:rPr>
              <a:t>&gt;</a:t>
            </a:r>
            <a:r>
              <a:rPr sz="1600" b="0" i="0" dirty="0">
                <a:solidFill>
                  <a:srgbClr val="2A2742"/>
                </a:solidFill>
              </a:rPr>
              <a:t> generates adaptive attack strategies</a:t>
            </a:r>
          </a:p>
        </p:txBody>
      </p:sp>
      <p:sp>
        <p:nvSpPr>
          <p:cNvPr id="44" name="Oval 43"/>
          <p:cNvSpPr/>
          <p:nvPr/>
        </p:nvSpPr>
        <p:spPr>
          <a:xfrm>
            <a:off x="6446520" y="4370831"/>
            <a:ext cx="128016" cy="128016"/>
          </a:xfrm>
          <a:prstGeom prst="ellipse">
            <a:avLst/>
          </a:prstGeom>
          <a:solidFill>
            <a:srgbClr val="E5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5" name="TextBox 44"/>
          <p:cNvSpPr txBox="1"/>
          <p:nvPr/>
        </p:nvSpPr>
        <p:spPr>
          <a:xfrm>
            <a:off x="6656832" y="427939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5345A"/>
                </a:solidFill>
                <a:latin typeface="Outfit"/>
              </a:rPr>
              <a:t>Attack Simulation</a:t>
            </a:r>
            <a:r>
              <a:rPr sz="1300" b="1" i="0" dirty="0">
                <a:solidFill>
                  <a:srgbClr val="E5345A"/>
                </a:solidFill>
                <a:latin typeface="Outfit"/>
              </a:rPr>
              <a:t>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4279392"/>
            <a:ext cx="2926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Custom prompts + tool-calling for SQLi, auth bypass</a:t>
            </a:r>
          </a:p>
        </p:txBody>
      </p:sp>
      <p:sp>
        <p:nvSpPr>
          <p:cNvPr id="47" name="Oval 46"/>
          <p:cNvSpPr/>
          <p:nvPr/>
        </p:nvSpPr>
        <p:spPr>
          <a:xfrm>
            <a:off x="6446520" y="5102352"/>
            <a:ext cx="128016" cy="128016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6656832" y="50109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5E4CE6"/>
                </a:solidFill>
                <a:latin typeface="Outfit"/>
              </a:rPr>
              <a:t>Safety Layer</a:t>
            </a:r>
            <a:r>
              <a:rPr sz="1300" b="1" i="0" dirty="0">
                <a:solidFill>
                  <a:srgbClr val="5E4CE6"/>
                </a:solidFill>
                <a:latin typeface="Outfit"/>
              </a:rPr>
              <a:t>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5010912"/>
            <a:ext cx="2926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User-defined scope + sandboxed execution + rate limiting</a:t>
            </a:r>
          </a:p>
        </p:txBody>
      </p:sp>
      <p:sp>
        <p:nvSpPr>
          <p:cNvPr id="50" name="Oval 49"/>
          <p:cNvSpPr/>
          <p:nvPr/>
        </p:nvSpPr>
        <p:spPr>
          <a:xfrm>
            <a:off x="6437376" y="5715000"/>
            <a:ext cx="128016" cy="128016"/>
          </a:xfrm>
          <a:prstGeom prst="ellipse">
            <a:avLst/>
          </a:prstGeom>
          <a:solidFill>
            <a:srgbClr val="231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1" name="TextBox 50"/>
          <p:cNvSpPr txBox="1"/>
          <p:nvPr/>
        </p:nvSpPr>
        <p:spPr>
          <a:xfrm>
            <a:off x="6656832" y="561485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31971"/>
                </a:solidFill>
                <a:latin typeface="Outfit"/>
              </a:rPr>
              <a:t>Reporting: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9912" y="5644653"/>
            <a:ext cx="30671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0" i="0" dirty="0">
                <a:solidFill>
                  <a:srgbClr val="2A2742"/>
                </a:solidFill>
              </a:rPr>
              <a:t>     </a:t>
            </a:r>
            <a:r>
              <a:rPr sz="1600" b="0" i="0" dirty="0">
                <a:solidFill>
                  <a:srgbClr val="2A2742"/>
                </a:solidFill>
              </a:rPr>
              <a:t>Context-aware response parser</a:t>
            </a:r>
            <a:r>
              <a:rPr lang="en-IN" sz="1600" b="0" i="0" dirty="0">
                <a:solidFill>
                  <a:srgbClr val="2A2742"/>
                </a:solidFill>
              </a:rPr>
              <a:t>        </a:t>
            </a:r>
            <a:r>
              <a:rPr sz="1600" b="0" i="0" dirty="0">
                <a:solidFill>
                  <a:srgbClr val="2A2742"/>
                </a:solidFill>
              </a:rPr>
              <a:t> </a:t>
            </a:r>
            <a:r>
              <a:rPr lang="en-IN" sz="1600" b="0" i="0" dirty="0">
                <a:solidFill>
                  <a:srgbClr val="2A2742"/>
                </a:solidFill>
              </a:rPr>
              <a:t>        </a:t>
            </a:r>
            <a:r>
              <a:rPr sz="1600" b="0" i="0" dirty="0">
                <a:solidFill>
                  <a:srgbClr val="2A2742"/>
                </a:solidFill>
              </a:rPr>
              <a:t>→ severity-graded output</a:t>
            </a:r>
            <a:r>
              <a:rPr lang="en-IN" sz="1600" b="0" i="0" dirty="0">
                <a:solidFill>
                  <a:srgbClr val="2A2742"/>
                </a:solidFill>
              </a:rPr>
              <a:t> </a:t>
            </a:r>
            <a:endParaRPr sz="1600" b="0" i="0" dirty="0">
              <a:solidFill>
                <a:srgbClr val="2A274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2926080"/>
            <a:ext cx="5943600" cy="5029200"/>
          </a:xfrm>
          <a:prstGeom prst="ellipse">
            <a:avLst/>
          </a:prstGeom>
          <a:solidFill>
            <a:srgbClr val="1E14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BBB3E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231971"/>
                </a:solidFill>
                <a:latin typeface="Outfit"/>
              </a:rPr>
              <a:t>How </a:t>
            </a:r>
            <a:r>
              <a:rPr lang="en-IN" sz="4000" b="1" i="0" dirty="0">
                <a:solidFill>
                  <a:srgbClr val="231971"/>
                </a:solidFill>
                <a:latin typeface="Outfit"/>
              </a:rPr>
              <a:t>Threat Pilot</a:t>
            </a:r>
            <a:r>
              <a:rPr sz="4000" b="1" i="0" dirty="0">
                <a:solidFill>
                  <a:srgbClr val="231971"/>
                </a:solidFill>
                <a:latin typeface="Outfit"/>
              </a:rPr>
              <a:t>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65992" cy="36576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5120640" cy="5394960"/>
          </a:xfrm>
          <a:prstGeom prst="roundRect">
            <a:avLst/>
          </a:prstGeom>
          <a:solidFill>
            <a:srgbClr val="2A1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4206240" cy="4480560"/>
          </a:xfrm>
          <a:prstGeom prst="roundRect">
            <a:avLst/>
          </a:prstGeom>
          <a:solidFill>
            <a:srgbClr val="422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1325880" y="2029968"/>
            <a:ext cx="3291840" cy="3566160"/>
          </a:xfrm>
          <a:prstGeom prst="roundRect">
            <a:avLst/>
          </a:prstGeom>
          <a:solidFill>
            <a:srgbClr val="5E4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1783080" y="2514600"/>
            <a:ext cx="2377440" cy="2606040"/>
          </a:xfrm>
          <a:prstGeom prst="roundRect">
            <a:avLst/>
          </a:prstGeom>
          <a:solidFill>
            <a:srgbClr val="7A5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5806440" y="1170432"/>
            <a:ext cx="6035040" cy="9326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Oval 10"/>
          <p:cNvSpPr/>
          <p:nvPr/>
        </p:nvSpPr>
        <p:spPr>
          <a:xfrm>
            <a:off x="5961888" y="1417320"/>
            <a:ext cx="438912" cy="438912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948172" y="14676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1243584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dirty="0">
                <a:solidFill>
                  <a:srgbClr val="231971"/>
                </a:solidFill>
                <a:latin typeface="Outfit"/>
              </a:rPr>
              <a:t>Submit App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1518577"/>
            <a:ext cx="50749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A2742"/>
                </a:solidFill>
                <a:latin typeface="Arimo"/>
              </a:rPr>
              <a:t>Provide </a:t>
            </a:r>
            <a:r>
              <a:rPr sz="1500" b="0" i="0" dirty="0">
                <a:solidFill>
                  <a:srgbClr val="2A2742"/>
                </a:solidFill>
              </a:rPr>
              <a:t>your</a:t>
            </a:r>
            <a:r>
              <a:rPr sz="1500" b="0" i="0" dirty="0">
                <a:solidFill>
                  <a:srgbClr val="2A2742"/>
                </a:solidFill>
                <a:latin typeface="Arimo"/>
              </a:rPr>
              <a:t> web app URL, mobile APK, or API endpoint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2249424"/>
            <a:ext cx="6035040" cy="9326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Oval 15"/>
          <p:cNvSpPr/>
          <p:nvPr/>
        </p:nvSpPr>
        <p:spPr>
          <a:xfrm>
            <a:off x="5961888" y="2496312"/>
            <a:ext cx="438912" cy="438912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5961888" y="24963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956" y="2295144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dirty="0">
                <a:solidFill>
                  <a:srgbClr val="231971"/>
                </a:solidFill>
                <a:latin typeface="Outfit"/>
              </a:rPr>
              <a:t>AI Web Crawler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544835"/>
            <a:ext cx="50749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A2742"/>
                </a:solidFill>
              </a:rPr>
              <a:t>Playwright-powered</a:t>
            </a:r>
            <a:r>
              <a:rPr sz="1500" b="0" i="0" dirty="0">
                <a:solidFill>
                  <a:srgbClr val="2A2742"/>
                </a:solidFill>
                <a:latin typeface="Arimo"/>
              </a:rPr>
              <a:t> agent maps all pages, forms &amp; hidden endpoints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3328415"/>
            <a:ext cx="6035040" cy="9326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Oval 20"/>
          <p:cNvSpPr/>
          <p:nvPr/>
        </p:nvSpPr>
        <p:spPr>
          <a:xfrm>
            <a:off x="5961888" y="3575303"/>
            <a:ext cx="438912" cy="438912"/>
          </a:xfrm>
          <a:prstGeom prst="ellipse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5961888" y="3575303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341455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dirty="0">
                <a:solidFill>
                  <a:srgbClr val="231971"/>
                </a:solidFill>
                <a:latin typeface="Outfit"/>
              </a:rPr>
              <a:t>Attack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5956" y="3671167"/>
            <a:ext cx="50749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A2742"/>
                </a:solidFill>
                <a:latin typeface="Arimo"/>
              </a:rPr>
              <a:t>LLM </a:t>
            </a:r>
            <a:r>
              <a:rPr sz="1500" b="0" i="0" dirty="0">
                <a:solidFill>
                  <a:srgbClr val="2A2742"/>
                </a:solidFill>
              </a:rPr>
              <a:t>generates</a:t>
            </a:r>
            <a:r>
              <a:rPr sz="1500" b="0" i="0" dirty="0">
                <a:solidFill>
                  <a:srgbClr val="2A2742"/>
                </a:solidFill>
                <a:latin typeface="Arimo"/>
              </a:rPr>
              <a:t> &amp; executes SQL injection, auth bypass, brute force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4407408"/>
            <a:ext cx="6035040" cy="9326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Oval 25"/>
          <p:cNvSpPr/>
          <p:nvPr/>
        </p:nvSpPr>
        <p:spPr>
          <a:xfrm>
            <a:off x="5961888" y="4654296"/>
            <a:ext cx="438912" cy="438912"/>
          </a:xfrm>
          <a:prstGeom prst="ellipse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5961888" y="465429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5956" y="444002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31971"/>
                </a:solidFill>
                <a:latin typeface="Outfit"/>
              </a:rPr>
              <a:t>AI Reasoning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5956" y="4752200"/>
            <a:ext cx="50749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A2742"/>
                </a:solidFill>
              </a:rPr>
              <a:t>Claude/GPT-4o analyzes responses, detects anomalies &amp; logic flaws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6440" y="5486400"/>
            <a:ext cx="6035040" cy="9326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Oval 30"/>
          <p:cNvSpPr/>
          <p:nvPr/>
        </p:nvSpPr>
        <p:spPr>
          <a:xfrm>
            <a:off x="5961888" y="5733288"/>
            <a:ext cx="438912" cy="438912"/>
          </a:xfrm>
          <a:prstGeom prst="ellipse">
            <a:avLst/>
          </a:prstGeom>
          <a:solidFill>
            <a:srgbClr val="0F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5961888" y="57332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FFFF"/>
                </a:solidFill>
                <a:latin typeface="Outfit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5956" y="549822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dirty="0">
                <a:solidFill>
                  <a:srgbClr val="231971"/>
                </a:solidFill>
                <a:latin typeface="Outfit"/>
              </a:rPr>
              <a:t>Vulnerability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8816" y="5795163"/>
            <a:ext cx="50749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A2742"/>
                </a:solidFill>
              </a:rPr>
              <a:t>Severity-graded</a:t>
            </a:r>
            <a:r>
              <a:rPr sz="1500" b="0" i="0" dirty="0">
                <a:solidFill>
                  <a:srgbClr val="2A2742"/>
                </a:solidFill>
                <a:latin typeface="Arimo"/>
              </a:rPr>
              <a:t> report with affected endpoints &amp; remediation steps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6AEC117-56C6-97CB-6B6D-86B6896E1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670" y="2764448"/>
            <a:ext cx="2024260" cy="213921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2926080"/>
            <a:ext cx="5943600" cy="5029200"/>
          </a:xfrm>
          <a:prstGeom prst="ellipse">
            <a:avLst/>
          </a:prstGeom>
          <a:solidFill>
            <a:srgbClr val="1E14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BBB3E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231971"/>
                </a:solidFill>
                <a:latin typeface="Outfit"/>
              </a:rPr>
              <a:t>Key Features</a:t>
            </a:r>
            <a:r>
              <a:rPr lang="en-IN" sz="4000" b="1" i="0" dirty="0">
                <a:solidFill>
                  <a:srgbClr val="231971"/>
                </a:solidFill>
                <a:latin typeface="Outfit"/>
              </a:rPr>
              <a:t> (SRCADT)</a:t>
            </a:r>
            <a:endParaRPr sz="4000" b="1" i="0" dirty="0">
              <a:solidFill>
                <a:srgbClr val="231971"/>
              </a:solidFill>
              <a:latin typeface="Outfi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65992" cy="36576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11480" y="1170432"/>
            <a:ext cx="5650992" cy="160020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5650992" cy="64008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Oval 7"/>
          <p:cNvSpPr/>
          <p:nvPr/>
        </p:nvSpPr>
        <p:spPr>
          <a:xfrm>
            <a:off x="612648" y="1700784"/>
            <a:ext cx="493776" cy="493776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12648" y="1719072"/>
            <a:ext cx="493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Outfit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28016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u="sng" dirty="0">
                <a:solidFill>
                  <a:srgbClr val="23197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Autonomous Exploration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5" y="1764792"/>
            <a:ext cx="4773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A2742"/>
                </a:solidFill>
              </a:rPr>
              <a:t>Intelligently discovers endpoints, APIs, and app structure without manual configuration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170432"/>
            <a:ext cx="5650992" cy="160020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6309360" y="1170432"/>
            <a:ext cx="5650992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Oval 13"/>
          <p:cNvSpPr/>
          <p:nvPr/>
        </p:nvSpPr>
        <p:spPr>
          <a:xfrm>
            <a:off x="6510528" y="1700784"/>
            <a:ext cx="493776" cy="493776"/>
          </a:xfrm>
          <a:prstGeom prst="ellipse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510528" y="1719072"/>
            <a:ext cx="493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Outfit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1280160"/>
            <a:ext cx="4818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u="sng" dirty="0">
                <a:solidFill>
                  <a:srgbClr val="23197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AI-Generated Attack Strategies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304" y="1764792"/>
            <a:ext cx="47457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A2742"/>
                </a:solidFill>
              </a:rPr>
              <a:t>Creates sophisticated attack scenarios using LLM trained on real-world exploits &amp; CVE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953512"/>
            <a:ext cx="5650992" cy="160020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411480" y="2953512"/>
            <a:ext cx="5650992" cy="64008"/>
          </a:xfrm>
          <a:prstGeom prst="rect">
            <a:avLst/>
          </a:prstGeom>
          <a:solidFill>
            <a:srgbClr val="0F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Oval 19"/>
          <p:cNvSpPr/>
          <p:nvPr/>
        </p:nvSpPr>
        <p:spPr>
          <a:xfrm>
            <a:off x="612648" y="3483864"/>
            <a:ext cx="493776" cy="493776"/>
          </a:xfrm>
          <a:prstGeom prst="ellipse">
            <a:avLst/>
          </a:prstGeom>
          <a:solidFill>
            <a:srgbClr val="0F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12648" y="3502152"/>
            <a:ext cx="493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Outfit"/>
              </a:rP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" y="3113222"/>
            <a:ext cx="4745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u="sng" dirty="0">
                <a:solidFill>
                  <a:srgbClr val="23197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Real Hacker Behavior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2076" y="3439426"/>
            <a:ext cx="4650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A2742"/>
                </a:solidFill>
              </a:rPr>
              <a:t>Simulates how actual attackers probe and exploit </a:t>
            </a:r>
            <a:r>
              <a:rPr lang="en-IN" sz="2000" b="0" dirty="0">
                <a:solidFill>
                  <a:srgbClr val="2A2742"/>
                </a:solidFill>
              </a:rPr>
              <a:t>,</a:t>
            </a:r>
            <a:r>
              <a:rPr sz="2000" b="0" dirty="0">
                <a:solidFill>
                  <a:srgbClr val="2A2742"/>
                </a:solidFill>
              </a:rPr>
              <a:t> not just pattern matching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953512"/>
            <a:ext cx="5650992" cy="160020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6309360" y="2953512"/>
            <a:ext cx="5650992" cy="64008"/>
          </a:xfrm>
          <a:prstGeom prst="rect">
            <a:avLst/>
          </a:prstGeom>
          <a:solidFill>
            <a:srgbClr val="E5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Oval 25"/>
          <p:cNvSpPr/>
          <p:nvPr/>
        </p:nvSpPr>
        <p:spPr>
          <a:xfrm>
            <a:off x="6510528" y="3483864"/>
            <a:ext cx="493776" cy="493776"/>
          </a:xfrm>
          <a:prstGeom prst="ellipse">
            <a:avLst/>
          </a:prstGeom>
          <a:solidFill>
            <a:srgbClr val="E5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6510528" y="3502152"/>
            <a:ext cx="493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Outfi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06324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u="sng" dirty="0">
                <a:solidFill>
                  <a:srgbClr val="23197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Intelligent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547872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A2742"/>
                </a:solidFill>
                <a:latin typeface="Arimo"/>
              </a:rPr>
              <a:t>Context-aware analysis of status codes, HTML diffs &amp; timing anomalies beyond simple </a:t>
            </a:r>
            <a:r>
              <a:rPr sz="2000" b="0" dirty="0">
                <a:solidFill>
                  <a:srgbClr val="2A2742"/>
                </a:solidFill>
              </a:rPr>
              <a:t>signatures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736592"/>
            <a:ext cx="5650992" cy="160020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Rectangle 30"/>
          <p:cNvSpPr/>
          <p:nvPr/>
        </p:nvSpPr>
        <p:spPr>
          <a:xfrm>
            <a:off x="411480" y="4736592"/>
            <a:ext cx="5650992" cy="64008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Oval 31"/>
          <p:cNvSpPr/>
          <p:nvPr/>
        </p:nvSpPr>
        <p:spPr>
          <a:xfrm>
            <a:off x="612648" y="5266944"/>
            <a:ext cx="493776" cy="493776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12648" y="5285231"/>
            <a:ext cx="493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Outfit"/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8463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u="sng" dirty="0">
                <a:solidFill>
                  <a:srgbClr val="23197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Clear Security 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" y="5279271"/>
            <a:ext cx="47457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A2742"/>
                </a:solidFill>
                <a:ea typeface="Nirmala Text Semilight" panose="020B0402040204020203" pitchFamily="34" charset="0"/>
                <a:cs typeface="Nirmala Text Semilight" panose="020B0402040204020203" pitchFamily="34" charset="0"/>
              </a:rPr>
              <a:t>Detailed findings with specific mitigation suggestions, severity ratings &amp; risk prioritization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736592"/>
            <a:ext cx="5650992" cy="160020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Rectangle 36"/>
          <p:cNvSpPr/>
          <p:nvPr/>
        </p:nvSpPr>
        <p:spPr>
          <a:xfrm>
            <a:off x="6309360" y="4736592"/>
            <a:ext cx="5650992" cy="64008"/>
          </a:xfrm>
          <a:prstGeom prst="rect">
            <a:avLst/>
          </a:prstGeom>
          <a:solidFill>
            <a:srgbClr val="231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" name="Oval 37"/>
          <p:cNvSpPr/>
          <p:nvPr/>
        </p:nvSpPr>
        <p:spPr>
          <a:xfrm>
            <a:off x="6510528" y="5266944"/>
            <a:ext cx="493776" cy="493776"/>
          </a:xfrm>
          <a:prstGeom prst="ellipse">
            <a:avLst/>
          </a:prstGeom>
          <a:solidFill>
            <a:srgbClr val="231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6510528" y="5285231"/>
            <a:ext cx="493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Outfit"/>
              </a:rPr>
              <a:t>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48463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u="sng" dirty="0">
                <a:solidFill>
                  <a:srgbClr val="231971"/>
                </a:solidFill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Continuous Testing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5330952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2A2742"/>
                </a:solidFill>
              </a:rPr>
              <a:t>Automates security validation throughout the development lifecycle via agent re-runs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2926080"/>
            <a:ext cx="5943600" cy="5029200"/>
          </a:xfrm>
          <a:prstGeom prst="ellipse">
            <a:avLst/>
          </a:prstGeom>
          <a:solidFill>
            <a:srgbClr val="1E14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BBB3E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38328" y="2011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231971"/>
                </a:solidFill>
                <a:latin typeface="Outfit"/>
              </a:rPr>
              <a:t>Technical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65992" cy="36576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11480" y="1170432"/>
            <a:ext cx="5650992" cy="23042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5650992" cy="548640"/>
          </a:xfrm>
          <a:prstGeom prst="rect">
            <a:avLst/>
          </a:prstGeom>
          <a:solidFill>
            <a:srgbClr val="F0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Oval 7"/>
          <p:cNvSpPr/>
          <p:nvPr/>
        </p:nvSpPr>
        <p:spPr>
          <a:xfrm>
            <a:off x="612648" y="1261872"/>
            <a:ext cx="384048" cy="384048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12648" y="12618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Outfit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280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5E4CE6"/>
                </a:solidFill>
                <a:latin typeface="Outfit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828800"/>
            <a:ext cx="521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31971"/>
                </a:solidFill>
                <a:latin typeface="Outfit"/>
              </a:rPr>
              <a:t>Web Crawler (Playwright)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404872"/>
            <a:ext cx="5212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b="0" dirty="0">
                <a:solidFill>
                  <a:srgbClr val="2A2742"/>
                </a:solidFill>
              </a:rPr>
              <a:t>Intelligent navigation — discovers endpoints, forms, APIs &amp; hidden routes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70432"/>
            <a:ext cx="5650992" cy="23042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6309360" y="1170432"/>
            <a:ext cx="5650992" cy="548640"/>
          </a:xfrm>
          <a:prstGeom prst="rect">
            <a:avLst/>
          </a:prstGeom>
          <a:solidFill>
            <a:srgbClr val="F0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Oval 14"/>
          <p:cNvSpPr/>
          <p:nvPr/>
        </p:nvSpPr>
        <p:spPr>
          <a:xfrm>
            <a:off x="6510528" y="1261872"/>
            <a:ext cx="384048" cy="384048"/>
          </a:xfrm>
          <a:prstGeom prst="ellipse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510528" y="12618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Outfit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1280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7C3AFF"/>
                </a:solidFill>
                <a:latin typeface="Outfit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1828800"/>
            <a:ext cx="52120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31971"/>
                </a:solidFill>
                <a:latin typeface="Outfit"/>
              </a:rPr>
              <a:t>AI Reasoning Engine (Lang</a:t>
            </a:r>
            <a:r>
              <a:rPr lang="en-US" sz="2800" b="1" i="0" dirty="0">
                <a:solidFill>
                  <a:srgbClr val="231971"/>
                </a:solidFill>
                <a:latin typeface="Outfit"/>
              </a:rPr>
              <a:t> </a:t>
            </a:r>
            <a:r>
              <a:rPr sz="2800" b="1" i="0" dirty="0">
                <a:solidFill>
                  <a:srgbClr val="231971"/>
                </a:solidFill>
                <a:latin typeface="Outfit"/>
              </a:rPr>
              <a:t>Graph + Claude)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639276"/>
            <a:ext cx="5495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b="0" dirty="0">
                <a:solidFill>
                  <a:srgbClr val="2A2742"/>
                </a:solidFill>
              </a:rPr>
              <a:t>Orchestrates observe</a:t>
            </a:r>
            <a:r>
              <a:rPr lang="en-US" b="0" dirty="0">
                <a:solidFill>
                  <a:srgbClr val="2A2742"/>
                </a:solidFill>
              </a:rPr>
              <a:t> </a:t>
            </a:r>
            <a:r>
              <a:rPr b="0" dirty="0">
                <a:solidFill>
                  <a:srgbClr val="2A2742"/>
                </a:solidFill>
              </a:rPr>
              <a:t>→</a:t>
            </a:r>
            <a:r>
              <a:rPr lang="en-US" b="0" dirty="0">
                <a:solidFill>
                  <a:srgbClr val="2A2742"/>
                </a:solidFill>
              </a:rPr>
              <a:t> </a:t>
            </a:r>
            <a:r>
              <a:rPr b="0" dirty="0">
                <a:solidFill>
                  <a:srgbClr val="2A2742"/>
                </a:solidFill>
              </a:rPr>
              <a:t>think→</a:t>
            </a:r>
            <a:r>
              <a:rPr lang="en-US" b="0" dirty="0">
                <a:solidFill>
                  <a:srgbClr val="2A2742"/>
                </a:solidFill>
              </a:rPr>
              <a:t> </a:t>
            </a:r>
            <a:r>
              <a:rPr b="0" dirty="0">
                <a:solidFill>
                  <a:srgbClr val="2A2742"/>
                </a:solidFill>
              </a:rPr>
              <a:t>act loop; generates adaptive attack prompts via tool-calling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685032"/>
            <a:ext cx="5650992" cy="23042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411480" y="3685032"/>
            <a:ext cx="5650992" cy="548640"/>
          </a:xfrm>
          <a:prstGeom prst="rect">
            <a:avLst/>
          </a:prstGeom>
          <a:solidFill>
            <a:srgbClr val="F0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Oval 21"/>
          <p:cNvSpPr/>
          <p:nvPr/>
        </p:nvSpPr>
        <p:spPr>
          <a:xfrm>
            <a:off x="612648" y="3776472"/>
            <a:ext cx="384048" cy="384048"/>
          </a:xfrm>
          <a:prstGeom prst="ellipse">
            <a:avLst/>
          </a:prstGeom>
          <a:solidFill>
            <a:srgbClr val="0F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12648" y="37764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Outfit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FB88A"/>
                </a:solidFill>
                <a:latin typeface="Outfit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343400"/>
            <a:ext cx="521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31971"/>
                </a:solidFill>
                <a:latin typeface="Outfit"/>
              </a:rPr>
              <a:t>Vulnerability Analyzer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919472"/>
            <a:ext cx="5212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b="0" dirty="0">
                <a:solidFill>
                  <a:srgbClr val="2A2742"/>
                </a:solidFill>
              </a:rPr>
              <a:t>Context-aware parser — status codes, HTML diffs, timing anomalies → threat classification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685032"/>
            <a:ext cx="5650992" cy="23042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6309360" y="3685032"/>
            <a:ext cx="5650992" cy="548640"/>
          </a:xfrm>
          <a:prstGeom prst="rect">
            <a:avLst/>
          </a:prstGeom>
          <a:solidFill>
            <a:srgbClr val="F0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Oval 28"/>
          <p:cNvSpPr/>
          <p:nvPr/>
        </p:nvSpPr>
        <p:spPr>
          <a:xfrm>
            <a:off x="6510528" y="3776472"/>
            <a:ext cx="384048" cy="384048"/>
          </a:xfrm>
          <a:prstGeom prst="ellipse">
            <a:avLst/>
          </a:prstGeom>
          <a:solidFill>
            <a:srgbClr val="E5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6510528" y="37764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Outfit"/>
              </a:rPr>
              <a:t>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E5345A"/>
                </a:solidFill>
                <a:latin typeface="Outfit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4343400"/>
            <a:ext cx="521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31971"/>
                </a:solidFill>
                <a:latin typeface="Outfit"/>
              </a:rPr>
              <a:t>Report Generator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919472"/>
            <a:ext cx="5212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b="0" dirty="0">
                <a:solidFill>
                  <a:srgbClr val="2A2742"/>
                </a:solidFill>
              </a:rPr>
              <a:t>Severity-graded output (Critical/High/Medium/Low) with endpoint paths &amp; fix guidance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2316" y="6248747"/>
            <a:ext cx="11365992" cy="4754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411480" y="6277463"/>
            <a:ext cx="2572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5E4CE6"/>
                </a:solidFill>
                <a:latin typeface="Outfit"/>
              </a:rPr>
              <a:t>Challenges solved:</a:t>
            </a:r>
            <a:endParaRPr b="1" i="0" dirty="0">
              <a:solidFill>
                <a:srgbClr val="5E4CE6"/>
              </a:solidFill>
              <a:latin typeface="Outfi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92594" y="6321899"/>
            <a:ext cx="92968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2A2742"/>
                </a:solidFill>
              </a:rPr>
              <a:t>Infinite loop prevention via token limits + depth bounding   ·   Ethical testing via opt-in scope + sandboxed execution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2926080"/>
            <a:ext cx="5943600" cy="5029200"/>
          </a:xfrm>
          <a:prstGeom prst="ellipse">
            <a:avLst/>
          </a:prstGeom>
          <a:solidFill>
            <a:srgbClr val="1E14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BBB3E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231971"/>
                </a:solidFill>
                <a:latin typeface="Outfit"/>
              </a:rPr>
              <a:t>Security Testing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65992" cy="36576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11480" y="1170432"/>
            <a:ext cx="6263640" cy="406908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5E4CE6"/>
                </a:solidFill>
                <a:latin typeface="Outfit"/>
              </a:rPr>
              <a:t>Threat Pilot</a:t>
            </a:r>
            <a:r>
              <a:rPr b="1" i="0" dirty="0">
                <a:solidFill>
                  <a:srgbClr val="5E4CE6"/>
                </a:solidFill>
                <a:latin typeface="Outfit"/>
              </a:rPr>
              <a:t>  —  Sample Security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01952"/>
            <a:ext cx="6080760" cy="640080"/>
          </a:xfrm>
          <a:prstGeom prst="rect">
            <a:avLst/>
          </a:prstGeom>
          <a:solidFill>
            <a:srgbClr val="F0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502920" y="1901952"/>
            <a:ext cx="3200400" cy="640080"/>
          </a:xfrm>
          <a:prstGeom prst="rect">
            <a:avLst/>
          </a:prstGeom>
          <a:solidFill>
            <a:srgbClr val="E5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58368" y="20482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Outfit"/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048256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231971"/>
                </a:solidFill>
                <a:latin typeface="Outfit"/>
              </a:rPr>
              <a:t>2 issues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79192"/>
            <a:ext cx="6080760" cy="640080"/>
          </a:xfrm>
          <a:prstGeom prst="rect">
            <a:avLst/>
          </a:prstGeom>
          <a:solidFill>
            <a:srgbClr val="F0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502920" y="2679192"/>
            <a:ext cx="4389120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58368" y="28254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Outfit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825496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231971"/>
                </a:solidFill>
                <a:latin typeface="Outfit"/>
              </a:rPr>
              <a:t>5 issues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56432"/>
            <a:ext cx="6080760" cy="640080"/>
          </a:xfrm>
          <a:prstGeom prst="rect">
            <a:avLst/>
          </a:prstGeom>
          <a:solidFill>
            <a:srgbClr val="F0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502920" y="3456432"/>
            <a:ext cx="3474720" cy="6400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58368" y="36027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Outfit"/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602736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231971"/>
                </a:solidFill>
                <a:latin typeface="Outfit"/>
              </a:rPr>
              <a:t>8 issues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33672"/>
            <a:ext cx="6080760" cy="640080"/>
          </a:xfrm>
          <a:prstGeom prst="rect">
            <a:avLst/>
          </a:prstGeom>
          <a:solidFill>
            <a:srgbClr val="F0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502920" y="4233672"/>
            <a:ext cx="2011680" cy="640080"/>
          </a:xfrm>
          <a:prstGeom prst="rect">
            <a:avLst/>
          </a:prstGeom>
          <a:solidFill>
            <a:srgbClr val="0F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58368" y="43799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Outfit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4379976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231971"/>
                </a:solidFill>
                <a:latin typeface="Outfit"/>
              </a:rPr>
              <a:t>3 issues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138928"/>
            <a:ext cx="6080760" cy="4754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685800" y="5230368"/>
            <a:ext cx="5669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5E4CE6"/>
                </a:solidFill>
                <a:latin typeface="Outfit"/>
              </a:rPr>
              <a:t>18 vulnerabilities found across 6 endpoints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742432"/>
            <a:ext cx="6263640" cy="91440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640080" y="580644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31971"/>
                </a:solidFill>
                <a:latin typeface="Outfit"/>
              </a:rPr>
              <a:t>Example exploit path: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108192"/>
            <a:ext cx="585216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2A2742"/>
                </a:solidFill>
              </a:rPr>
              <a:t>Endpoint: /login  ·  Attack: SQLi via ' OR 1=1 --  ·  Response: 200 OK + unexpected user data  →  Broken Auth detected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1170432"/>
            <a:ext cx="4892040" cy="548640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7178040" y="1353312"/>
            <a:ext cx="4389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31971"/>
                </a:solidFill>
                <a:latin typeface="Outfit"/>
              </a:rPr>
              <a:t>Test 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1993392"/>
            <a:ext cx="4389120" cy="610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lang="en-IN" sz="1600" b="0" dirty="0">
                <a:solidFill>
                  <a:srgbClr val="2A2742"/>
                </a:solidFill>
              </a:rPr>
              <a:t>Threat Pilot</a:t>
            </a:r>
            <a:r>
              <a:rPr sz="1600" b="0" dirty="0">
                <a:solidFill>
                  <a:srgbClr val="2A2742"/>
                </a:solidFill>
              </a:rPr>
              <a:t> performs comprehensive security</a:t>
            </a:r>
          </a:p>
          <a:p>
            <a:pPr algn="l">
              <a:spcAft>
                <a:spcPts val="200"/>
              </a:spcAft>
            </a:pPr>
            <a:r>
              <a:rPr sz="1600" b="0" dirty="0">
                <a:solidFill>
                  <a:srgbClr val="2A2742"/>
                </a:solidFill>
              </a:rPr>
              <a:t>testing across multiple vulnerability categories</a:t>
            </a:r>
            <a:r>
              <a:rPr sz="1600" b="0" dirty="0">
                <a:solidFill>
                  <a:srgbClr val="2A2742"/>
                </a:solidFill>
                <a:latin typeface="Arimo"/>
              </a:rPr>
              <a:t>:</a:t>
            </a:r>
          </a:p>
        </p:txBody>
      </p:sp>
      <p:sp>
        <p:nvSpPr>
          <p:cNvPr id="32" name="Oval 31"/>
          <p:cNvSpPr/>
          <p:nvPr/>
        </p:nvSpPr>
        <p:spPr>
          <a:xfrm>
            <a:off x="7178040" y="2862072"/>
            <a:ext cx="128016" cy="128016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7452360" y="2788920"/>
            <a:ext cx="4206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OWASP Top 10 vulnerabilities</a:t>
            </a:r>
          </a:p>
        </p:txBody>
      </p:sp>
      <p:sp>
        <p:nvSpPr>
          <p:cNvPr id="34" name="Oval 33"/>
          <p:cNvSpPr/>
          <p:nvPr/>
        </p:nvSpPr>
        <p:spPr>
          <a:xfrm>
            <a:off x="7178040" y="3364991"/>
            <a:ext cx="128016" cy="128016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7452360" y="3291839"/>
            <a:ext cx="4206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Authentication &amp; session management flaws</a:t>
            </a:r>
          </a:p>
        </p:txBody>
      </p:sp>
      <p:sp>
        <p:nvSpPr>
          <p:cNvPr id="36" name="Oval 35"/>
          <p:cNvSpPr/>
          <p:nvPr/>
        </p:nvSpPr>
        <p:spPr>
          <a:xfrm>
            <a:off x="7178040" y="3867912"/>
            <a:ext cx="128016" cy="128016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7452360" y="3794760"/>
            <a:ext cx="4206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Input validation &amp; injection attacks</a:t>
            </a:r>
          </a:p>
        </p:txBody>
      </p:sp>
      <p:sp>
        <p:nvSpPr>
          <p:cNvPr id="38" name="Oval 37"/>
          <p:cNvSpPr/>
          <p:nvPr/>
        </p:nvSpPr>
        <p:spPr>
          <a:xfrm>
            <a:off x="7178040" y="4370832"/>
            <a:ext cx="128016" cy="128016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7452360" y="4297680"/>
            <a:ext cx="4206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API security misconfigurations</a:t>
            </a:r>
          </a:p>
        </p:txBody>
      </p:sp>
      <p:sp>
        <p:nvSpPr>
          <p:cNvPr id="40" name="Oval 39"/>
          <p:cNvSpPr/>
          <p:nvPr/>
        </p:nvSpPr>
        <p:spPr>
          <a:xfrm>
            <a:off x="7178040" y="4873752"/>
            <a:ext cx="128016" cy="128016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7360920" y="4791343"/>
            <a:ext cx="4206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Access control weaknesses</a:t>
            </a:r>
          </a:p>
        </p:txBody>
      </p:sp>
      <p:sp>
        <p:nvSpPr>
          <p:cNvPr id="42" name="Oval 41"/>
          <p:cNvSpPr/>
          <p:nvPr/>
        </p:nvSpPr>
        <p:spPr>
          <a:xfrm>
            <a:off x="7178040" y="5376672"/>
            <a:ext cx="128016" cy="128016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7452360" y="5303520"/>
            <a:ext cx="4206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Timing &amp; logic-based vulnerabilities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86600" y="5925312"/>
            <a:ext cx="4617720" cy="65836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5" name="TextBox 44"/>
          <p:cNvSpPr txBox="1"/>
          <p:nvPr/>
        </p:nvSpPr>
        <p:spPr>
          <a:xfrm>
            <a:off x="7178040" y="5989320"/>
            <a:ext cx="4663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5E4CE6"/>
                </a:solidFill>
                <a:latin typeface="Outfit"/>
              </a:rPr>
              <a:t>Severity ratings · Affected endpoints · Remediation steps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2926080"/>
            <a:ext cx="5943600" cy="5029200"/>
          </a:xfrm>
          <a:prstGeom prst="ellipse">
            <a:avLst/>
          </a:prstGeom>
          <a:solidFill>
            <a:srgbClr val="1E14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BBB3E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231971"/>
                </a:solidFill>
                <a:latin typeface="Outfit"/>
              </a:rPr>
              <a:t>Responsible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65992" cy="36576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659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0" i="1" dirty="0">
                <a:solidFill>
                  <a:srgbClr val="2A2742"/>
                </a:solidFill>
              </a:rPr>
              <a:t>Threat Pilot</a:t>
            </a:r>
            <a:r>
              <a:rPr sz="2400" b="0" i="1" dirty="0">
                <a:solidFill>
                  <a:srgbClr val="2A2742"/>
                </a:solidFill>
              </a:rPr>
              <a:t> is built with safety-first principles  powerful enough to find real vulnerabilities, responsible enough to never cause harm.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057400"/>
            <a:ext cx="5650992" cy="13898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411480" y="2057400"/>
            <a:ext cx="5650992" cy="54864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Oval 8"/>
          <p:cNvSpPr/>
          <p:nvPr/>
        </p:nvSpPr>
        <p:spPr>
          <a:xfrm>
            <a:off x="612648" y="2514600"/>
            <a:ext cx="438912" cy="438912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12648" y="2532888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Outfit"/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14884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31971"/>
                </a:solidFill>
                <a:latin typeface="Outfit"/>
              </a:rPr>
              <a:t>Scope-Limited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606040"/>
            <a:ext cx="4617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A2742"/>
                </a:solidFill>
              </a:rPr>
              <a:t>Only tests the URL/domain explicitly submitted by the user </a:t>
            </a:r>
            <a:r>
              <a:rPr lang="en-IN" sz="1600" dirty="0">
                <a:solidFill>
                  <a:srgbClr val="2A2742"/>
                </a:solidFill>
              </a:rPr>
              <a:t>,</a:t>
            </a:r>
            <a:r>
              <a:rPr sz="1600" b="0" dirty="0">
                <a:solidFill>
                  <a:srgbClr val="2A2742"/>
                </a:solidFill>
              </a:rPr>
              <a:t>no unauthorized scanning</a:t>
            </a:r>
            <a:r>
              <a:rPr sz="1250" b="0" dirty="0">
                <a:solidFill>
                  <a:srgbClr val="2A2742"/>
                </a:solidFill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057400"/>
            <a:ext cx="5650992" cy="13898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6309360" y="2057400"/>
            <a:ext cx="5650992" cy="54864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Oval 14"/>
          <p:cNvSpPr/>
          <p:nvPr/>
        </p:nvSpPr>
        <p:spPr>
          <a:xfrm>
            <a:off x="6510528" y="2514600"/>
            <a:ext cx="438912" cy="438912"/>
          </a:xfrm>
          <a:prstGeom prst="ellipse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510528" y="2532888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Outfit"/>
              </a:rP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214884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31971"/>
                </a:solidFill>
                <a:latin typeface="Outfit"/>
              </a:rPr>
              <a:t>Read-Only Probes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2606040"/>
            <a:ext cx="4617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A2742"/>
                </a:solidFill>
              </a:rPr>
              <a:t>All attack simulations are non-destructive  probes observe responses without modifying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593591"/>
            <a:ext cx="5650992" cy="13898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411480" y="3593591"/>
            <a:ext cx="5650992" cy="54864"/>
          </a:xfrm>
          <a:prstGeom prst="rect">
            <a:avLst/>
          </a:prstGeom>
          <a:solidFill>
            <a:srgbClr val="0F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Oval 20"/>
          <p:cNvSpPr/>
          <p:nvPr/>
        </p:nvSpPr>
        <p:spPr>
          <a:xfrm>
            <a:off x="612648" y="4050791"/>
            <a:ext cx="438912" cy="438912"/>
          </a:xfrm>
          <a:prstGeom prst="ellipse">
            <a:avLst/>
          </a:prstGeom>
          <a:solidFill>
            <a:srgbClr val="0F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12648" y="4069079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Outfit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85031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31971"/>
                </a:solidFill>
                <a:latin typeface="Outfit"/>
              </a:rPr>
              <a:t>User Approval Per Phase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4142231"/>
            <a:ext cx="4617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A2742"/>
                </a:solidFill>
              </a:rPr>
              <a:t>Each attack phase requires explicit user confirmation before execution</a:t>
            </a:r>
            <a:r>
              <a:rPr sz="1600" b="0" dirty="0">
                <a:solidFill>
                  <a:srgbClr val="2A2742"/>
                </a:solidFill>
                <a:latin typeface="Arimo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593591"/>
            <a:ext cx="5650992" cy="13898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6309360" y="3593591"/>
            <a:ext cx="5650992" cy="54864"/>
          </a:xfrm>
          <a:prstGeom prst="rect">
            <a:avLst/>
          </a:prstGeom>
          <a:solidFill>
            <a:srgbClr val="E5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Oval 26"/>
          <p:cNvSpPr/>
          <p:nvPr/>
        </p:nvSpPr>
        <p:spPr>
          <a:xfrm>
            <a:off x="6510528" y="4050791"/>
            <a:ext cx="438912" cy="438912"/>
          </a:xfrm>
          <a:prstGeom prst="ellipse">
            <a:avLst/>
          </a:prstGeom>
          <a:solidFill>
            <a:srgbClr val="E5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6510528" y="4069079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Outfit"/>
              </a:rPr>
              <a:t>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3685031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31971"/>
                </a:solidFill>
                <a:latin typeface="Outfit"/>
              </a:rPr>
              <a:t>Rate Limiting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4142231"/>
            <a:ext cx="4617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A2742"/>
                </a:solidFill>
              </a:rPr>
              <a:t>Built-in request throttling prevents unintentional denial-of-service on target applications</a:t>
            </a:r>
            <a:r>
              <a:rPr sz="1250" b="0" dirty="0">
                <a:solidFill>
                  <a:srgbClr val="2A2742"/>
                </a:solidFill>
                <a:latin typeface="Arimo"/>
              </a:rPr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129783"/>
            <a:ext cx="5650992" cy="13898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Rectangle 31"/>
          <p:cNvSpPr/>
          <p:nvPr/>
        </p:nvSpPr>
        <p:spPr>
          <a:xfrm>
            <a:off x="411480" y="5129783"/>
            <a:ext cx="5650992" cy="54864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Oval 32"/>
          <p:cNvSpPr/>
          <p:nvPr/>
        </p:nvSpPr>
        <p:spPr>
          <a:xfrm>
            <a:off x="612648" y="5586983"/>
            <a:ext cx="438912" cy="438912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612648" y="5605271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Outfit"/>
              </a:rPr>
              <a:t>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221223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31971"/>
                </a:solidFill>
                <a:latin typeface="Outfit"/>
              </a:rPr>
              <a:t>Sandboxed Execution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5678423"/>
            <a:ext cx="4617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A2742"/>
                </a:solidFill>
              </a:rPr>
              <a:t>Agent runs in isolated environment  no persistent access or lateral movement possible.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5129783"/>
            <a:ext cx="5650992" cy="1389888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" name="Rectangle 37"/>
          <p:cNvSpPr/>
          <p:nvPr/>
        </p:nvSpPr>
        <p:spPr>
          <a:xfrm>
            <a:off x="6309360" y="5129783"/>
            <a:ext cx="5650992" cy="54864"/>
          </a:xfrm>
          <a:prstGeom prst="rect">
            <a:avLst/>
          </a:prstGeom>
          <a:solidFill>
            <a:srgbClr val="231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Oval 38"/>
          <p:cNvSpPr/>
          <p:nvPr/>
        </p:nvSpPr>
        <p:spPr>
          <a:xfrm>
            <a:off x="6510528" y="5586983"/>
            <a:ext cx="438912" cy="438912"/>
          </a:xfrm>
          <a:prstGeom prst="ellipse">
            <a:avLst/>
          </a:prstGeom>
          <a:solidFill>
            <a:srgbClr val="231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6510528" y="5605271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Outfit"/>
              </a:rPr>
              <a:t>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4032" y="5221223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31971"/>
                </a:solidFill>
                <a:latin typeface="Outfit"/>
              </a:rPr>
              <a:t>Audit Logging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4032" y="5678423"/>
            <a:ext cx="4617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A2742"/>
                </a:solidFill>
              </a:rPr>
              <a:t>Every action taken by the agent is logged  full transparency and accountability.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2926080"/>
            <a:ext cx="5943600" cy="5029200"/>
          </a:xfrm>
          <a:prstGeom prst="ellipse">
            <a:avLst/>
          </a:prstGeom>
          <a:solidFill>
            <a:srgbClr val="1E14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BBB3E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231971"/>
                </a:solidFill>
                <a:latin typeface="Outfit"/>
              </a:rPr>
              <a:t>Impact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65992" cy="36576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390148" y="1170432"/>
            <a:ext cx="5376672" cy="52852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31971"/>
                </a:solidFill>
                <a:latin typeface="Outfit"/>
              </a:rPr>
              <a:t>Democratizing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93392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dirty="0">
                <a:solidFill>
                  <a:srgbClr val="2A2742"/>
                </a:solidFill>
              </a:rPr>
              <a:t>Threat Pilot</a:t>
            </a:r>
            <a:r>
              <a:rPr b="0" dirty="0">
                <a:solidFill>
                  <a:srgbClr val="2A2742"/>
                </a:solidFill>
              </a:rPr>
              <a:t> makes professional-grade cybersecurity testing accessible:</a:t>
            </a:r>
          </a:p>
        </p:txBody>
      </p:sp>
      <p:sp>
        <p:nvSpPr>
          <p:cNvPr id="9" name="Oval 8"/>
          <p:cNvSpPr/>
          <p:nvPr/>
        </p:nvSpPr>
        <p:spPr>
          <a:xfrm>
            <a:off x="667512" y="2752344"/>
            <a:ext cx="128016" cy="128016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77824" y="2639723"/>
            <a:ext cx="4526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A2742"/>
                </a:solidFill>
              </a:rPr>
              <a:t>Bootstrapped startups with limited budgets</a:t>
            </a:r>
          </a:p>
        </p:txBody>
      </p:sp>
      <p:sp>
        <p:nvSpPr>
          <p:cNvPr id="11" name="Oval 10"/>
          <p:cNvSpPr/>
          <p:nvPr/>
        </p:nvSpPr>
        <p:spPr>
          <a:xfrm>
            <a:off x="671029" y="3200427"/>
            <a:ext cx="128016" cy="128016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77824" y="3097072"/>
            <a:ext cx="4526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dirty="0">
                <a:solidFill>
                  <a:srgbClr val="2A2742"/>
                </a:solidFill>
                <a:latin typeface="Arimo"/>
              </a:rPr>
              <a:t> </a:t>
            </a:r>
            <a:r>
              <a:rPr sz="1600" b="0" i="0" dirty="0">
                <a:solidFill>
                  <a:srgbClr val="2A2742"/>
                </a:solidFill>
              </a:rPr>
              <a:t>Student developers building first</a:t>
            </a:r>
            <a:r>
              <a:rPr lang="en-US" sz="1600" b="0" i="0" dirty="0">
                <a:solidFill>
                  <a:srgbClr val="2A2742"/>
                </a:solidFill>
              </a:rPr>
              <a:t> </a:t>
            </a:r>
            <a:r>
              <a:rPr sz="1600" b="0" i="0" dirty="0">
                <a:solidFill>
                  <a:srgbClr val="2A2742"/>
                </a:solidFill>
              </a:rPr>
              <a:t>applications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621142"/>
            <a:ext cx="128016" cy="128016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77824" y="3497780"/>
            <a:ext cx="4526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0" i="0" dirty="0">
                <a:solidFill>
                  <a:srgbClr val="2A2742"/>
                </a:solidFill>
                <a:latin typeface="Arimo"/>
              </a:rPr>
              <a:t> </a:t>
            </a:r>
            <a:r>
              <a:rPr sz="1600" b="0" i="0" dirty="0">
                <a:solidFill>
                  <a:srgbClr val="2A2742"/>
                </a:solidFill>
              </a:rPr>
              <a:t>Small teams without dedicated security expertise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3959141"/>
            <a:ext cx="128016" cy="128016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15344" y="3844883"/>
            <a:ext cx="4526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0" i="0" dirty="0">
                <a:solidFill>
                  <a:srgbClr val="2A2742"/>
                </a:solidFill>
                <a:latin typeface="Arimo"/>
              </a:rPr>
              <a:t>  </a:t>
            </a:r>
            <a:r>
              <a:rPr sz="1600" b="0" i="0" dirty="0">
                <a:solidFill>
                  <a:srgbClr val="2A2742"/>
                </a:solidFill>
              </a:rPr>
              <a:t>Hackathon projects requiring rapid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274" y="4324907"/>
            <a:ext cx="8256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5E4CE6"/>
                </a:solidFill>
                <a:latin typeface="Outfit"/>
              </a:rPr>
              <a:t> </a:t>
            </a:r>
            <a:r>
              <a:rPr sz="2800" b="1" i="0" dirty="0">
                <a:solidFill>
                  <a:srgbClr val="5E4CE6"/>
                </a:solidFill>
                <a:latin typeface="Outfit"/>
              </a:rPr>
              <a:t>10x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4371397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i="0" dirty="0">
                <a:solidFill>
                  <a:srgbClr val="2A2742"/>
                </a:solidFill>
                <a:latin typeface="Arimo"/>
              </a:rPr>
              <a:t> </a:t>
            </a:r>
            <a:r>
              <a:rPr sz="2000" b="0" i="0" dirty="0">
                <a:solidFill>
                  <a:srgbClr val="2A2742"/>
                </a:solidFill>
              </a:rPr>
              <a:t>cheaper than pen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888" y="4949915"/>
            <a:ext cx="137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7C3AFF"/>
                </a:solidFill>
                <a:latin typeface="Outfit"/>
              </a:rP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5044" y="5004916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dirty="0">
                <a:solidFill>
                  <a:srgbClr val="2A2742"/>
                </a:solidFill>
              </a:rPr>
              <a:t> </a:t>
            </a:r>
            <a:r>
              <a:rPr sz="2000" b="0" i="0" dirty="0">
                <a:solidFill>
                  <a:srgbClr val="2A2742"/>
                </a:solidFill>
              </a:rPr>
              <a:t>fewer undetected bugs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274" y="5559552"/>
            <a:ext cx="137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0FB88A"/>
                </a:solidFill>
                <a:latin typeface="Outfit"/>
              </a:rPr>
              <a:t>Zero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5673379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2A2742"/>
                </a:solidFill>
              </a:rPr>
              <a:t>security expertise needed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61888" y="1170432"/>
            <a:ext cx="5742432" cy="5285232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309360" y="1353312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31971"/>
                </a:solidFill>
                <a:latin typeface="Outfit"/>
              </a:rPr>
              <a:t>Roadmap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993392"/>
            <a:ext cx="5303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A2742"/>
                </a:solidFill>
              </a:rPr>
              <a:t>Currently functional for web applications.</a:t>
            </a:r>
          </a:p>
          <a:p>
            <a:pPr algn="l"/>
            <a:r>
              <a:rPr b="0" dirty="0">
                <a:solidFill>
                  <a:srgbClr val="2A2742"/>
                </a:solidFill>
              </a:rPr>
              <a:t>Next milestones:</a:t>
            </a:r>
          </a:p>
        </p:txBody>
      </p:sp>
      <p:sp>
        <p:nvSpPr>
          <p:cNvPr id="26" name="Oval 25"/>
          <p:cNvSpPr/>
          <p:nvPr/>
        </p:nvSpPr>
        <p:spPr>
          <a:xfrm>
            <a:off x="6309360" y="2816352"/>
            <a:ext cx="128016" cy="128016"/>
          </a:xfrm>
          <a:prstGeom prst="ellipse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6601968" y="2724912"/>
            <a:ext cx="5047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A2742"/>
                </a:solidFill>
              </a:rPr>
              <a:t>CI/CD pipeline integration for automated security gates</a:t>
            </a:r>
          </a:p>
        </p:txBody>
      </p:sp>
      <p:sp>
        <p:nvSpPr>
          <p:cNvPr id="28" name="Oval 27"/>
          <p:cNvSpPr/>
          <p:nvPr/>
        </p:nvSpPr>
        <p:spPr>
          <a:xfrm>
            <a:off x="6309360" y="3657600"/>
            <a:ext cx="128016" cy="128016"/>
          </a:xfrm>
          <a:prstGeom prst="ellipse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6601968" y="3566160"/>
            <a:ext cx="5047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A2742"/>
                </a:solidFill>
              </a:rPr>
              <a:t>Automated patch generation and code fix suggestions</a:t>
            </a:r>
          </a:p>
        </p:txBody>
      </p:sp>
      <p:sp>
        <p:nvSpPr>
          <p:cNvPr id="30" name="Oval 29"/>
          <p:cNvSpPr/>
          <p:nvPr/>
        </p:nvSpPr>
        <p:spPr>
          <a:xfrm>
            <a:off x="6309360" y="4498848"/>
            <a:ext cx="128016" cy="128016"/>
          </a:xfrm>
          <a:prstGeom prst="ellipse">
            <a:avLst/>
          </a:prstGeom>
          <a:solidFill>
            <a:srgbClr val="0FB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6601968" y="4407408"/>
            <a:ext cx="5047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A2742"/>
                </a:solidFill>
              </a:rPr>
              <a:t>Mobile application testing (iOS / Android APKs</a:t>
            </a:r>
            <a:r>
              <a:rPr b="0" dirty="0">
                <a:solidFill>
                  <a:srgbClr val="2A2742"/>
                </a:solidFill>
                <a:latin typeface="Arimo"/>
              </a:rPr>
              <a:t>)</a:t>
            </a:r>
          </a:p>
        </p:txBody>
      </p:sp>
      <p:sp>
        <p:nvSpPr>
          <p:cNvPr id="32" name="Oval 31"/>
          <p:cNvSpPr/>
          <p:nvPr/>
        </p:nvSpPr>
        <p:spPr>
          <a:xfrm>
            <a:off x="6332382" y="5031106"/>
            <a:ext cx="104994" cy="128016"/>
          </a:xfrm>
          <a:prstGeom prst="ellipse">
            <a:avLst/>
          </a:prstGeom>
          <a:solidFill>
            <a:srgbClr val="E5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601968" y="4937760"/>
            <a:ext cx="5047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A2742"/>
                </a:solidFill>
              </a:rPr>
              <a:t>Cloud infrastructure configuration auditing</a:t>
            </a:r>
          </a:p>
        </p:txBody>
      </p:sp>
      <p:sp>
        <p:nvSpPr>
          <p:cNvPr id="34" name="Oval 33"/>
          <p:cNvSpPr/>
          <p:nvPr/>
        </p:nvSpPr>
        <p:spPr>
          <a:xfrm>
            <a:off x="6332382" y="5559552"/>
            <a:ext cx="128016" cy="128016"/>
          </a:xfrm>
          <a:prstGeom prst="ellipse">
            <a:avLst/>
          </a:prstGeom>
          <a:solidFill>
            <a:srgbClr val="231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6601968" y="5427220"/>
            <a:ext cx="5047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A2742"/>
                </a:solidFill>
              </a:rPr>
              <a:t>Real-time simulation with live application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2926080"/>
            <a:ext cx="5943600" cy="5029200"/>
          </a:xfrm>
          <a:prstGeom prst="ellipse">
            <a:avLst/>
          </a:prstGeom>
          <a:solidFill>
            <a:srgbClr val="1E14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BBB3E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 dirty="0">
                <a:solidFill>
                  <a:srgbClr val="231971"/>
                </a:solidFill>
                <a:latin typeface="Outfit"/>
              </a:rPr>
              <a:t>Make Every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 dirty="0">
                <a:solidFill>
                  <a:srgbClr val="5E4CE6"/>
                </a:solidFill>
                <a:latin typeface="Outfit"/>
              </a:rPr>
              <a:t>Secure by Default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14600"/>
            <a:ext cx="11064240" cy="54864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397764" y="2882646"/>
            <a:ext cx="11064240" cy="1915667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D4C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4400" b="1" dirty="0">
                <a:solidFill>
                  <a:schemeClr val="accent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Security shouldn't be a luxury.</a:t>
            </a:r>
          </a:p>
          <a:p>
            <a:pPr algn="ctr"/>
            <a:r>
              <a:rPr lang="en-US" sz="4400" b="1" dirty="0">
                <a:solidFill>
                  <a:schemeClr val="accent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Threat Pilot makes it a standard.</a:t>
            </a:r>
          </a:p>
          <a:p>
            <a:pPr algn="ctr"/>
            <a:endParaRPr lang="en-US" sz="2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471" y="4979461"/>
            <a:ext cx="120383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i="0" dirty="0">
                <a:solidFill>
                  <a:srgbClr val="2A2742"/>
                </a:solidFill>
              </a:rPr>
              <a:t>Threat Pilot</a:t>
            </a:r>
            <a:r>
              <a:rPr sz="2400" b="1" i="0" dirty="0">
                <a:solidFill>
                  <a:srgbClr val="2A2742"/>
                </a:solidFill>
              </a:rPr>
              <a:t> enables developers to ship with confidence  knowing their applications
have been tested by an AI agent that thinks like an attacker but protects like a security expert</a:t>
            </a:r>
            <a:r>
              <a:rPr sz="1700" b="1" i="0" dirty="0">
                <a:solidFill>
                  <a:srgbClr val="2A2742"/>
                </a:solidFill>
                <a:latin typeface="Arimo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" y="6405372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A2742"/>
                </a:solidFill>
                <a:latin typeface="Arimo"/>
              </a:rPr>
              <a:t>Team </a:t>
            </a:r>
            <a:r>
              <a:rPr lang="en-IN" sz="1600" b="0" i="0" dirty="0">
                <a:solidFill>
                  <a:srgbClr val="2A2742"/>
                </a:solidFill>
                <a:latin typeface="Arimo"/>
              </a:rPr>
              <a:t>GreyMatter</a:t>
            </a:r>
            <a:r>
              <a:rPr sz="1600" b="0" i="0" dirty="0">
                <a:solidFill>
                  <a:srgbClr val="2A2742"/>
                </a:solidFill>
                <a:latin typeface="Arimo"/>
              </a:rPr>
              <a:t>  ·  Satyam Mishra</a:t>
            </a:r>
            <a:r>
              <a:rPr lang="en-US" sz="1600" b="0" i="0" dirty="0">
                <a:solidFill>
                  <a:srgbClr val="2A2742"/>
                </a:solidFill>
                <a:latin typeface="Arimo"/>
              </a:rPr>
              <a:t>  </a:t>
            </a:r>
            <a:r>
              <a:rPr lang="en-IN" sz="1600" dirty="0">
                <a:solidFill>
                  <a:srgbClr val="2A2742"/>
                </a:solidFill>
                <a:latin typeface="Arimo"/>
              </a:rPr>
              <a:t>· Rudraksh Purohit  · Devansh Agarwal</a:t>
            </a:r>
            <a:r>
              <a:rPr sz="1600" b="0" i="0" dirty="0">
                <a:solidFill>
                  <a:srgbClr val="2A2742"/>
                </a:solidFill>
                <a:latin typeface="Arimo"/>
              </a:rPr>
              <a:t>  ·  Hack &amp; Break 2026, IIT Bombay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388f197-6cae-4321-bbd1-83d91560bc1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FD572951A6D243B8B3229D7813620E" ma:contentTypeVersion="5" ma:contentTypeDescription="Create a new document." ma:contentTypeScope="" ma:versionID="43060df0ddb9f05acaef6f658d92586e">
  <xsd:schema xmlns:xsd="http://www.w3.org/2001/XMLSchema" xmlns:xs="http://www.w3.org/2001/XMLSchema" xmlns:p="http://schemas.microsoft.com/office/2006/metadata/properties" xmlns:ns3="4388f197-6cae-4321-bbd1-83d91560bc10" targetNamespace="http://schemas.microsoft.com/office/2006/metadata/properties" ma:root="true" ma:fieldsID="592b56fd20691188d1c9ce42dedb6e74" ns3:_="">
    <xsd:import namespace="4388f197-6cae-4321-bbd1-83d91560bc1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88f197-6cae-4321-bbd1-83d91560bc1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9C44EC-B24C-4607-989D-D0ACD486E2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130371-3224-4689-8322-59075BAD2DAB}">
  <ds:schemaRefs>
    <ds:schemaRef ds:uri="4388f197-6cae-4321-bbd1-83d91560bc1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4ACC534-53B1-43CE-BB85-A72E0911DAEC}">
  <ds:schemaRefs>
    <ds:schemaRef ds:uri="4388f197-6cae-4321-bbd1-83d91560bc1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1076</Words>
  <Application>Microsoft Office PowerPoint</Application>
  <PresentationFormat>Custom</PresentationFormat>
  <Paragraphs>194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ADLaM Display</vt:lpstr>
      <vt:lpstr>Aptos Slab Black</vt:lpstr>
      <vt:lpstr>Arial</vt:lpstr>
      <vt:lpstr>Arial Black</vt:lpstr>
      <vt:lpstr>Arimo</vt:lpstr>
      <vt:lpstr>Calibri</vt:lpstr>
      <vt:lpstr>Nirmala Text Semilight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Satyam Mishra [COMPUTER SCIENCE &amp; ENGINEERING - 2025]</cp:lastModifiedBy>
  <cp:revision>6</cp:revision>
  <dcterms:created xsi:type="dcterms:W3CDTF">2013-01-27T09:14:16Z</dcterms:created>
  <dcterms:modified xsi:type="dcterms:W3CDTF">2026-03-12T20:46:34Z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0x010100FEFD572951A6D243B8B3229D7813620E</vt:lpwstr>
  </property>
</Properties>
</file>